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asa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sa-regular.fntdata"/><Relationship Id="rId22" Type="http://schemas.openxmlformats.org/officeDocument/2006/relationships/font" Target="fonts/Rasa-italic.fntdata"/><Relationship Id="rId21" Type="http://schemas.openxmlformats.org/officeDocument/2006/relationships/font" Target="fonts/Rasa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Ras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7" Type="http://schemas.openxmlformats.org/officeDocument/2006/relationships/font" Target="fonts/Merriweather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f2b595973_2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6f2b595973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f2b595973_2_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6f2b595973_2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0887a6c70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70887a6c70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70887a6c70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f30ce10ce_4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6f30ce10ce_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f2b595973_2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6f2b595973_2_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6f2b595973_2_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08bc1af5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08bc1af5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08bc1af5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708bc1af5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08bc1af5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708bc1af5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f30ce10ce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6f30ce10ce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f30ce10ce_4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6f30ce10ce_4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f30ce10ce_4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6f30ce10ce_4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f30ce10ce_6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6f30ce10ce_6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f2b595973_2_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6f2b595973_2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hyperlink" Target="https://drive.google.com/drive/folders/19ApCAJRagKfS9qNWNho42qh5B-kGGDvi?usp=sharing" TargetMode="External"/><Relationship Id="rId9" Type="http://schemas.openxmlformats.org/officeDocument/2006/relationships/hyperlink" Target="https://www.linkedin.com/in/nandini-kuppala/" TargetMode="External"/><Relationship Id="rId5" Type="http://schemas.openxmlformats.org/officeDocument/2006/relationships/hyperlink" Target="https://grand-begonia-a2ebcb.netlify.app/" TargetMode="External"/><Relationship Id="rId6" Type="http://schemas.openxmlformats.org/officeDocument/2006/relationships/hyperlink" Target="https://github.com/nandini-kuppala/Vatsal-AI" TargetMode="External"/><Relationship Id="rId7" Type="http://schemas.openxmlformats.org/officeDocument/2006/relationships/hyperlink" Target="https://babycrytesting.streamlit.app/" TargetMode="External"/><Relationship Id="rId8" Type="http://schemas.openxmlformats.org/officeDocument/2006/relationships/hyperlink" Target="https://www.linkedin.com/in/vishal-a-s04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sciencedirect.com/science/article/pii/S2213398422002007" TargetMode="External"/><Relationship Id="rId11" Type="http://schemas.openxmlformats.org/officeDocument/2006/relationships/hyperlink" Target="https://www.pib.gov.in/PressReleasePage.aspx?PRID=1806601" TargetMode="External"/><Relationship Id="rId10" Type="http://schemas.openxmlformats.org/officeDocument/2006/relationships/hyperlink" Target="https://www.orfonline.org/research/what-nfhs-5-data-shows" TargetMode="External"/><Relationship Id="rId13" Type="http://schemas.openxmlformats.org/officeDocument/2006/relationships/hyperlink" Target="https://dhsprogram.com/pubs/pdf/FR375/FR375.pdf" TargetMode="External"/><Relationship Id="rId12" Type="http://schemas.openxmlformats.org/officeDocument/2006/relationships/hyperlink" Target="https://pmc.ncbi.nlm.nih.gov/articles/PMC11009545/" TargetMode="Externa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pib.gov.in/PressReleasePage.aspx?PRID=1861710" TargetMode="External"/><Relationship Id="rId4" Type="http://schemas.openxmlformats.org/officeDocument/2006/relationships/hyperlink" Target="https://www.macrotrends.net/global-metrics/countries/IND/india/infant-mortality-rate" TargetMode="External"/><Relationship Id="rId9" Type="http://schemas.openxmlformats.org/officeDocument/2006/relationships/hyperlink" Target="https://www.sciencedirect.com/science/article/pii/S2213398423002373" TargetMode="External"/><Relationship Id="rId15" Type="http://schemas.openxmlformats.org/officeDocument/2006/relationships/hyperlink" Target="https://nhm.gov.in/index1.php?lang=1&amp;level=2&amp;sublinkid=819&amp;lid=219" TargetMode="External"/><Relationship Id="rId14" Type="http://schemas.openxmlformats.org/officeDocument/2006/relationships/hyperlink" Target="https://censusindia.gov.in/census.website/data/SRSMMB" TargetMode="External"/><Relationship Id="rId17" Type="http://schemas.openxmlformats.org/officeDocument/2006/relationships/hyperlink" Target="https://www.nature.com/articles/s41598-023-37587-y" TargetMode="External"/><Relationship Id="rId16" Type="http://schemas.openxmlformats.org/officeDocument/2006/relationships/hyperlink" Target="https://www.nature.com/articles/s41598-023-37587-y" TargetMode="External"/><Relationship Id="rId5" Type="http://schemas.openxmlformats.org/officeDocument/2006/relationships/hyperlink" Target="https://www.pib.gov.in/PressReleaseIframePage.aspx?PRID=2128024" TargetMode="External"/><Relationship Id="rId19" Type="http://schemas.openxmlformats.org/officeDocument/2006/relationships/hyperlink" Target="https://www.sciencedirect.com/science/article/pii/S2213398422002007" TargetMode="External"/><Relationship Id="rId6" Type="http://schemas.openxmlformats.org/officeDocument/2006/relationships/hyperlink" Target="https://www.pib.gov.in/PressReleaseIframePage.aspx?PRID=2128024" TargetMode="External"/><Relationship Id="rId18" Type="http://schemas.openxmlformats.org/officeDocument/2006/relationships/hyperlink" Target="https://pmc.ncbi.nlm.nih.gov/articles/PMC10991083/" TargetMode="External"/><Relationship Id="rId7" Type="http://schemas.openxmlformats.org/officeDocument/2006/relationships/hyperlink" Target="https://data.worldbank.org/indicator/SP.DYN.IMRT.IN?locations=IN" TargetMode="External"/><Relationship Id="rId8" Type="http://schemas.openxmlformats.org/officeDocument/2006/relationships/hyperlink" Target="https://www.sciencedirect.com/science/article/pii/S221339842300237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-42675" y="273325"/>
            <a:ext cx="61788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b" bIns="32850" lIns="65750" spcFirstLastPara="1" rIns="65750" wrap="square" tIns="328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83"/>
              <a:buFont typeface="Calibri"/>
              <a:buNone/>
            </a:pPr>
            <a:r>
              <a:rPr lang="en" sz="2828">
                <a:latin typeface="Merriweather"/>
                <a:ea typeface="Merriweather"/>
                <a:cs typeface="Merriweather"/>
                <a:sym typeface="Merriweather"/>
              </a:rPr>
              <a:t>Precision Care Challenge 2025</a:t>
            </a:r>
            <a:endParaRPr sz="2828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205476" y="1074414"/>
            <a:ext cx="3682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2850" lIns="65750" spcFirstLastPara="1" rIns="65750" wrap="square" tIns="3285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6"/>
              <a:buNone/>
            </a:pPr>
            <a:r>
              <a:rPr lang="en" sz="1534">
                <a:latin typeface="Merriweather"/>
                <a:ea typeface="Merriweather"/>
                <a:cs typeface="Merriweather"/>
                <a:sym typeface="Merriweather"/>
              </a:rPr>
              <a:t>Phase 1 – Idea Submission</a:t>
            </a:r>
            <a:endParaRPr sz="1534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9925" y="811350"/>
            <a:ext cx="2646300" cy="412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/>
        </p:nvSpPr>
        <p:spPr>
          <a:xfrm>
            <a:off x="1296300" y="2568025"/>
            <a:ext cx="42657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erriweather"/>
              <a:buChar char="➢"/>
            </a:pPr>
            <a:r>
              <a:rPr lang="en" sz="1300">
                <a:solidFill>
                  <a:schemeClr val="accent6"/>
                </a:solidFill>
                <a:latin typeface="Merriweather"/>
                <a:ea typeface="Merriweather"/>
                <a:cs typeface="Merriweather"/>
                <a:sym typeface="Merriweather"/>
              </a:rPr>
              <a:t>Demo video </a:t>
            </a:r>
            <a:r>
              <a:rPr lang="en" sz="1300">
                <a:latin typeface="Merriweather"/>
                <a:ea typeface="Merriweather"/>
                <a:cs typeface="Merriweather"/>
                <a:sym typeface="Merriweather"/>
              </a:rPr>
              <a:t>- </a:t>
            </a:r>
            <a:r>
              <a:rPr lang="en" sz="13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4"/>
              </a:rPr>
              <a:t>Link 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erriweather"/>
              <a:buChar char="➢"/>
            </a:pPr>
            <a:r>
              <a:rPr lang="en" sz="1300">
                <a:solidFill>
                  <a:schemeClr val="accent6"/>
                </a:solidFill>
                <a:latin typeface="Merriweather"/>
                <a:ea typeface="Merriweather"/>
                <a:cs typeface="Merriweather"/>
                <a:sym typeface="Merriweather"/>
              </a:rPr>
              <a:t>Prototype</a:t>
            </a:r>
            <a:r>
              <a:rPr lang="en" sz="13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" sz="1300">
                <a:latin typeface="Merriweather"/>
                <a:ea typeface="Merriweather"/>
                <a:cs typeface="Merriweather"/>
                <a:sym typeface="Merriweather"/>
              </a:rPr>
              <a:t>- </a:t>
            </a:r>
            <a:r>
              <a:rPr lang="en" sz="13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5"/>
              </a:rPr>
              <a:t>Link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erriweather"/>
              <a:buChar char="➢"/>
            </a:pPr>
            <a:r>
              <a:rPr lang="en" sz="1300">
                <a:solidFill>
                  <a:schemeClr val="accent6"/>
                </a:solidFill>
                <a:latin typeface="Merriweather"/>
                <a:ea typeface="Merriweather"/>
                <a:cs typeface="Merriweather"/>
                <a:sym typeface="Merriweather"/>
              </a:rPr>
              <a:t>Git repo</a:t>
            </a:r>
            <a:r>
              <a:rPr lang="en" sz="1300">
                <a:latin typeface="Merriweather"/>
                <a:ea typeface="Merriweather"/>
                <a:cs typeface="Merriweather"/>
                <a:sym typeface="Merriweather"/>
              </a:rPr>
              <a:t> - </a:t>
            </a:r>
            <a:r>
              <a:rPr lang="en" sz="13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6"/>
              </a:rPr>
              <a:t>Link</a:t>
            </a:r>
            <a:endParaRPr sz="13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erriweather"/>
              <a:buChar char="➢"/>
            </a:pPr>
            <a:r>
              <a:rPr lang="en" sz="1300">
                <a:solidFill>
                  <a:schemeClr val="accent6"/>
                </a:solidFill>
                <a:latin typeface="Merriweather"/>
                <a:ea typeface="Merriweather"/>
                <a:cs typeface="Merriweather"/>
                <a:sym typeface="Merriweather"/>
              </a:rPr>
              <a:t>Preliminary results live test</a:t>
            </a:r>
            <a:r>
              <a:rPr lang="en" sz="1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- </a:t>
            </a:r>
            <a:r>
              <a:rPr lang="en" sz="13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7"/>
              </a:rPr>
              <a:t>Link</a:t>
            </a:r>
            <a:r>
              <a:rPr lang="en" sz="1300"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1579500" y="1660563"/>
            <a:ext cx="27639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en" sz="1600">
                <a:solidFill>
                  <a:srgbClr val="FF9900"/>
                </a:solidFill>
                <a:latin typeface="Merriweather"/>
                <a:ea typeface="Merriweather"/>
                <a:cs typeface="Merriweather"/>
                <a:sym typeface="Merriweather"/>
              </a:rPr>
              <a:t>Team - Vatsalya</a:t>
            </a:r>
            <a:endParaRPr i="1" sz="1600">
              <a:solidFill>
                <a:srgbClr val="FF99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459225" y="3926900"/>
            <a:ext cx="5390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Team Details: </a:t>
            </a:r>
            <a:endParaRPr b="1" sz="13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Vishal A S - AI developer </a:t>
            </a:r>
            <a:r>
              <a:rPr lang="en" sz="11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8"/>
              </a:rPr>
              <a:t>linkedIn</a:t>
            </a:r>
            <a:endParaRPr sz="1100" u="sng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Nandini Kuppala - Web and App developer  </a:t>
            </a:r>
            <a:r>
              <a:rPr lang="en" sz="11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9"/>
              </a:rPr>
              <a:t>linkedIn</a:t>
            </a:r>
            <a:endParaRPr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248925" y="2190500"/>
            <a:ext cx="59634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b="1" i="1" lang="en" sz="13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Theme</a:t>
            </a:r>
            <a:r>
              <a:rPr b="1" i="0" lang="en" sz="1350" u="none" cap="none" strike="noStrike">
                <a:solidFill>
                  <a:srgbClr val="2C2926"/>
                </a:solidFill>
                <a:latin typeface="Merriweather"/>
                <a:ea typeface="Merriweather"/>
                <a:cs typeface="Merriweather"/>
                <a:sym typeface="Merriweather"/>
              </a:rPr>
              <a:t> – </a:t>
            </a:r>
            <a:r>
              <a:rPr b="1" i="0" lang="en" sz="1350" u="none" cap="none" strike="noStrike">
                <a:solidFill>
                  <a:srgbClr val="434343"/>
                </a:solidFill>
                <a:latin typeface="Merriweather"/>
                <a:ea typeface="Merriweather"/>
                <a:cs typeface="Merriweather"/>
                <a:sym typeface="Merriweather"/>
              </a:rPr>
              <a:t>Artificial Intelligence | ch</a:t>
            </a:r>
            <a:r>
              <a:rPr b="1" lang="en" sz="1350">
                <a:solidFill>
                  <a:srgbClr val="434343"/>
                </a:solidFill>
                <a:latin typeface="Merriweather"/>
                <a:ea typeface="Merriweather"/>
                <a:cs typeface="Merriweather"/>
                <a:sym typeface="Merriweather"/>
              </a:rPr>
              <a:t>ild</a:t>
            </a:r>
            <a:r>
              <a:rPr b="1" i="0" lang="en" sz="1350" u="none" cap="none" strike="noStrike">
                <a:solidFill>
                  <a:srgbClr val="434343"/>
                </a:solidFill>
                <a:latin typeface="Merriweather"/>
                <a:ea typeface="Merriweather"/>
                <a:cs typeface="Merriweather"/>
                <a:sym typeface="Merriweather"/>
              </a:rPr>
              <a:t> - Baby Care For Indian Parents</a:t>
            </a:r>
            <a:endParaRPr i="0" sz="1350" u="none" cap="none" strike="noStrike">
              <a:solidFill>
                <a:srgbClr val="43434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/>
        </p:nvSpPr>
        <p:spPr>
          <a:xfrm>
            <a:off x="371525" y="632450"/>
            <a:ext cx="8772600" cy="430500"/>
          </a:xfrm>
          <a:prstGeom prst="rect">
            <a:avLst/>
          </a:prstGeom>
          <a:solidFill>
            <a:srgbClr val="FFFFFF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first 1000 days (from conception to age 2) determine 90% of a child's brain development, yet Indian families face critical challenges:  </a:t>
            </a:r>
            <a:r>
              <a:rPr b="1" i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Alarming statistic in India</a:t>
            </a:r>
            <a:endParaRPr i="1"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371520" y="201960"/>
            <a:ext cx="84009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63666A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  <a:endParaRPr i="0" sz="2200" u="none" cap="none" strike="noStrike">
              <a:solidFill>
                <a:srgbClr val="63666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42" name="Google Shape;142;p26"/>
          <p:cNvPicPr preferRelativeResize="0"/>
          <p:nvPr/>
        </p:nvPicPr>
        <p:blipFill rotWithShape="1">
          <a:blip r:embed="rId3">
            <a:alphaModFix/>
          </a:blip>
          <a:srcRect b="13886" l="3732" r="3898" t="5619"/>
          <a:stretch/>
        </p:blipFill>
        <p:spPr>
          <a:xfrm>
            <a:off x="5340575" y="1369088"/>
            <a:ext cx="3677325" cy="328851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 txBox="1"/>
          <p:nvPr/>
        </p:nvSpPr>
        <p:spPr>
          <a:xfrm>
            <a:off x="271750" y="1062950"/>
            <a:ext cx="4902600" cy="2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erriweather"/>
              <a:buChar char="●"/>
            </a:pPr>
            <a:r>
              <a:rPr b="1" lang="en" sz="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Infant Mortality Rate</a:t>
            </a:r>
            <a:r>
              <a:rPr lang="en" sz="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: 25.8 deaths per 1,000 live births (2024)</a:t>
            </a:r>
            <a:endParaRPr sz="9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erriweather"/>
              <a:buChar char="●"/>
            </a:pPr>
            <a:r>
              <a:rPr b="1" lang="en" sz="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Child Malnutrition</a:t>
            </a:r>
            <a:r>
              <a:rPr lang="en" sz="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: O</a:t>
            </a:r>
            <a:r>
              <a:rPr lang="en" sz="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ver one-third of young children in India suffer from long-term malnutrition in India</a:t>
            </a:r>
            <a:endParaRPr sz="9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erriweather"/>
              <a:buChar char="●"/>
            </a:pPr>
            <a:r>
              <a:rPr b="1" lang="en" sz="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Stunting Prevalence</a:t>
            </a:r>
            <a:r>
              <a:rPr lang="en" sz="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: 36% of children under 5 are stunted (NFHS-5, 2019-2021)</a:t>
            </a:r>
            <a:endParaRPr sz="9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erriweather"/>
              <a:buChar char="●"/>
            </a:pPr>
            <a:r>
              <a:rPr b="1"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Maternal Loneliness:</a:t>
            </a: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Over 26% of mothers in nuclear families in India report severe loneliness (ScienceDirect, 2024)</a:t>
            </a:r>
            <a:endParaRPr sz="9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150" y="2909586"/>
            <a:ext cx="4902601" cy="2233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/>
        </p:nvSpPr>
        <p:spPr>
          <a:xfrm>
            <a:off x="259800" y="653900"/>
            <a:ext cx="4552200" cy="4403400"/>
          </a:xfrm>
          <a:prstGeom prst="rect">
            <a:avLst/>
          </a:prstGeom>
          <a:solidFill>
            <a:srgbClr val="FFFFFF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An 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AI-powered healthcare app that provides </a:t>
            </a: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personalized, culturally-relevant, and actionable guidance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for Indian parents.</a:t>
            </a:r>
            <a:endParaRPr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177800" lvl="0" marL="25400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Key Features Overview:</a:t>
            </a:r>
            <a:endParaRPr b="1" i="1"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7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Smart Home Dashboard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Personalized by Stage- 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Pregnancy, Infancy (0-12 months) and Toddlerhood (13-24 months).</a:t>
            </a:r>
            <a:endParaRPr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AI Report Analysis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with 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comparative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assessment with previous reports during pregnancy and provide </a:t>
            </a: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personalized </a:t>
            </a: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recommendations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and also check </a:t>
            </a: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medicine </a:t>
            </a: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compatibility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.</a:t>
            </a:r>
            <a:endParaRPr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AI Assistant with </a:t>
            </a: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Multilingual support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(10 indian languages) with</a:t>
            </a: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voice ,video and  image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support.</a:t>
            </a:r>
            <a:endParaRPr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Knowledge hub 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for </a:t>
            </a: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mothers and Fathers 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for smart parenting  and to make them aware of </a:t>
            </a: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govt schemes 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etc.</a:t>
            </a:r>
            <a:endParaRPr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Location based groups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- connect with</a:t>
            </a: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nearby mothers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, find specialists in your locality, nearby playgrounds and parks.</a:t>
            </a:r>
            <a:endParaRPr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177800" lvl="0" marL="25400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177800" lvl="0" marL="2540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177800" lvl="0" marL="25400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1" name="Google Shape;151;p27"/>
          <p:cNvSpPr txBox="1"/>
          <p:nvPr/>
        </p:nvSpPr>
        <p:spPr>
          <a:xfrm>
            <a:off x="272366" y="170777"/>
            <a:ext cx="78354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63666A"/>
                </a:solidFill>
                <a:latin typeface="Merriweather"/>
                <a:ea typeface="Merriweather"/>
                <a:cs typeface="Merriweather"/>
                <a:sym typeface="Merriweather"/>
              </a:rPr>
              <a:t>Solution - </a:t>
            </a:r>
            <a:r>
              <a:rPr b="1" i="1" lang="en" sz="2300">
                <a:solidFill>
                  <a:srgbClr val="FF9900"/>
                </a:solidFill>
                <a:latin typeface="Merriweather"/>
                <a:ea typeface="Merriweather"/>
                <a:cs typeface="Merriweather"/>
                <a:sym typeface="Merriweather"/>
              </a:rPr>
              <a:t>Vatsal AI</a:t>
            </a:r>
            <a:r>
              <a:rPr b="1" lang="en" sz="2300">
                <a:solidFill>
                  <a:srgbClr val="FF9900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i="0" sz="2300" u="none" cap="none" strike="noStrike">
              <a:solidFill>
                <a:srgbClr val="FF99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52" name="Google Shape;152;p27"/>
          <p:cNvPicPr preferRelativeResize="0"/>
          <p:nvPr/>
        </p:nvPicPr>
        <p:blipFill rotWithShape="1">
          <a:blip r:embed="rId3">
            <a:alphaModFix/>
          </a:blip>
          <a:srcRect b="6070" l="3522" r="4995" t="4010"/>
          <a:stretch/>
        </p:blipFill>
        <p:spPr>
          <a:xfrm>
            <a:off x="4995000" y="122125"/>
            <a:ext cx="3953280" cy="50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8"/>
          <p:cNvPicPr preferRelativeResize="0"/>
          <p:nvPr/>
        </p:nvPicPr>
        <p:blipFill rotWithShape="1">
          <a:blip r:embed="rId3">
            <a:alphaModFix/>
          </a:blip>
          <a:srcRect b="7655" l="1800" r="1963" t="8502"/>
          <a:stretch/>
        </p:blipFill>
        <p:spPr>
          <a:xfrm>
            <a:off x="265900" y="273325"/>
            <a:ext cx="8574351" cy="46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/>
        </p:nvSpPr>
        <p:spPr>
          <a:xfrm>
            <a:off x="224745" y="83950"/>
            <a:ext cx="3453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300">
                <a:solidFill>
                  <a:srgbClr val="63666A"/>
                </a:solidFill>
                <a:latin typeface="Calibri"/>
                <a:ea typeface="Calibri"/>
                <a:cs typeface="Calibri"/>
                <a:sym typeface="Calibri"/>
              </a:rPr>
              <a:t> Unique Value Propositions</a:t>
            </a:r>
            <a:endParaRPr b="0" i="1" sz="2300" u="none" cap="none" strike="noStrike">
              <a:solidFill>
                <a:srgbClr val="63666A"/>
              </a:solidFill>
              <a:latin typeface="Rasa"/>
              <a:ea typeface="Rasa"/>
              <a:cs typeface="Rasa"/>
              <a:sym typeface="Rasa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0" y="521250"/>
            <a:ext cx="4970100" cy="4403400"/>
          </a:xfrm>
          <a:prstGeom prst="rect">
            <a:avLst/>
          </a:prstGeom>
          <a:solidFill>
            <a:srgbClr val="FFFFFF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5275" lvl="0" marL="457200" rtl="0" algn="l">
              <a:lnSpc>
                <a:spcPct val="18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erriweather"/>
              <a:buChar char="●"/>
            </a:pPr>
            <a:r>
              <a:rPr b="1"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Live baby cry analysis:</a:t>
            </a:r>
            <a:r>
              <a:rPr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with real-time soothing suggestions.</a:t>
            </a:r>
            <a:endParaRPr sz="10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5275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erriweather"/>
              <a:buChar char="●"/>
            </a:pPr>
            <a:r>
              <a:rPr b="1"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Income-Based Personalization and </a:t>
            </a:r>
            <a:r>
              <a:rPr b="1"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disability</a:t>
            </a:r>
            <a:r>
              <a:rPr b="1"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b="1"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inclusion</a:t>
            </a:r>
            <a:r>
              <a:rPr b="1"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: Different recommendations for families earning &lt;₹2L, ₹2-8L, &gt;₹8L  with consideration of </a:t>
            </a:r>
            <a:r>
              <a:rPr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disability</a:t>
            </a:r>
            <a:r>
              <a:rPr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. </a:t>
            </a:r>
            <a:endParaRPr sz="10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5275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erriweather"/>
              <a:buChar char="●"/>
            </a:pPr>
            <a:r>
              <a:rPr b="1"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Regional Government Schemes Integration:</a:t>
            </a:r>
            <a:r>
              <a:rPr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Automatic discovery of state-specific benefits and community-based support to reduce maternal isolation.</a:t>
            </a:r>
            <a:endParaRPr sz="10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5275" lvl="0" marL="4572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erriweather"/>
              <a:buChar char="●"/>
            </a:pPr>
            <a:r>
              <a:rPr b="1"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AI-Powered Safety</a:t>
            </a:r>
            <a:r>
              <a:rPr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: Real-time </a:t>
            </a:r>
            <a:r>
              <a:rPr b="1"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baby monitoring </a:t>
            </a:r>
            <a:r>
              <a:rPr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with danger detection </a:t>
            </a:r>
            <a:r>
              <a:rPr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using computer vision and also clears doubts and confusions using images and voice.</a:t>
            </a:r>
            <a:endParaRPr sz="10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5275" lvl="0" marL="4572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erriweather"/>
              <a:buChar char="●"/>
            </a:pPr>
            <a:r>
              <a:rPr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Semantic search delivers instant, </a:t>
            </a:r>
            <a:r>
              <a:rPr b="1"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stage-specific </a:t>
            </a:r>
            <a:r>
              <a:rPr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health, diet and lifestyle information personalized for</a:t>
            </a:r>
            <a:r>
              <a:rPr b="1"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Pregnancy, Infancy, and Toddlerhood.</a:t>
            </a:r>
            <a:endParaRPr b="1" sz="10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5275" lvl="0" marL="4572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erriweather"/>
              <a:buChar char="●"/>
            </a:pPr>
            <a:r>
              <a:rPr b="1"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Drug Safety Check - </a:t>
            </a:r>
            <a:r>
              <a:rPr lang="en" sz="10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Allows users to click a picture of a tablet sheet or pill box to instantly check if the medication is safe for babies or pregnant women.</a:t>
            </a:r>
            <a:endParaRPr sz="10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 rotWithShape="1">
          <a:blip r:embed="rId3">
            <a:alphaModFix/>
          </a:blip>
          <a:srcRect b="0" l="0" r="3772" t="0"/>
          <a:stretch/>
        </p:blipFill>
        <p:spPr>
          <a:xfrm>
            <a:off x="5062550" y="717100"/>
            <a:ext cx="4081450" cy="401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 txBox="1"/>
          <p:nvPr/>
        </p:nvSpPr>
        <p:spPr>
          <a:xfrm>
            <a:off x="6358343" y="107800"/>
            <a:ext cx="19218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63666A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1" sz="2400" u="none" cap="none" strike="noStrike">
              <a:solidFill>
                <a:srgbClr val="63666A"/>
              </a:solidFill>
              <a:latin typeface="Rasa"/>
              <a:ea typeface="Rasa"/>
              <a:cs typeface="Rasa"/>
              <a:sym typeface="Ras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700" y="152400"/>
            <a:ext cx="8968300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0"/>
          <p:cNvSpPr txBox="1"/>
          <p:nvPr/>
        </p:nvSpPr>
        <p:spPr>
          <a:xfrm>
            <a:off x="222850" y="30550"/>
            <a:ext cx="17613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222847" y="-2600"/>
            <a:ext cx="13842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100">
                <a:solidFill>
                  <a:srgbClr val="63666A"/>
                </a:solidFill>
                <a:latin typeface="Calibri"/>
                <a:ea typeface="Calibri"/>
                <a:cs typeface="Calibri"/>
                <a:sym typeface="Calibri"/>
              </a:rPr>
              <a:t>Artitecture</a:t>
            </a:r>
            <a:r>
              <a:rPr b="1" i="1" lang="en" sz="2100">
                <a:solidFill>
                  <a:srgbClr val="6366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1" sz="2100">
              <a:solidFill>
                <a:srgbClr val="6366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100">
              <a:solidFill>
                <a:srgbClr val="6366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/>
        </p:nvSpPr>
        <p:spPr>
          <a:xfrm>
            <a:off x="340341" y="280452"/>
            <a:ext cx="78354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63666A"/>
                </a:solidFill>
                <a:latin typeface="Calibri"/>
                <a:ea typeface="Calibri"/>
                <a:cs typeface="Calibri"/>
                <a:sym typeface="Calibri"/>
              </a:rPr>
              <a:t>Pros and Cons of the Solution</a:t>
            </a:r>
            <a:endParaRPr b="0" i="1" sz="2400" u="none" cap="none" strike="noStrike">
              <a:solidFill>
                <a:srgbClr val="63666A"/>
              </a:solidFill>
              <a:latin typeface="Rasa"/>
              <a:ea typeface="Rasa"/>
              <a:cs typeface="Rasa"/>
              <a:sym typeface="Rasa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5584700" y="1203500"/>
            <a:ext cx="31764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Mitigation Strategies:</a:t>
            </a:r>
            <a:endParaRPr b="1" sz="13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End-to-end encryption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for all health data</a:t>
            </a:r>
            <a:endParaRPr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Offline mode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for essential features</a:t>
            </a:r>
            <a:endParaRPr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Medical professional oversight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for AI recommendations</a:t>
            </a:r>
            <a:endParaRPr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Multi-tier content moderation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system for community posts.</a:t>
            </a:r>
            <a:endParaRPr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Partnerships with local healthcare providers</a:t>
            </a:r>
            <a:endParaRPr b="1"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Simple, intuitive UI</a:t>
            </a:r>
            <a:r>
              <a:rPr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with multilingual voice-first interaction</a:t>
            </a:r>
            <a:endParaRPr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80" name="Google Shape;180;p31"/>
          <p:cNvPicPr preferRelativeResize="0"/>
          <p:nvPr/>
        </p:nvPicPr>
        <p:blipFill rotWithShape="1">
          <a:blip r:embed="rId3">
            <a:alphaModFix/>
          </a:blip>
          <a:srcRect b="7243" l="4002" r="2923" t="8140"/>
          <a:stretch/>
        </p:blipFill>
        <p:spPr>
          <a:xfrm>
            <a:off x="645150" y="942775"/>
            <a:ext cx="4676175" cy="381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/>
        </p:nvSpPr>
        <p:spPr>
          <a:xfrm>
            <a:off x="340341" y="280452"/>
            <a:ext cx="78354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63666A"/>
                </a:solidFill>
                <a:latin typeface="Calibri"/>
                <a:ea typeface="Calibri"/>
                <a:cs typeface="Calibri"/>
                <a:sym typeface="Calibri"/>
              </a:rPr>
              <a:t>Snapshots of </a:t>
            </a:r>
            <a:r>
              <a:rPr b="1" i="1" lang="en" sz="2400">
                <a:solidFill>
                  <a:srgbClr val="63666A"/>
                </a:solidFill>
                <a:latin typeface="Calibri"/>
                <a:ea typeface="Calibri"/>
                <a:cs typeface="Calibri"/>
                <a:sym typeface="Calibri"/>
              </a:rPr>
              <a:t>Prototype </a:t>
            </a:r>
            <a:endParaRPr b="0" i="1" sz="2400" u="none" cap="none" strike="noStrike">
              <a:solidFill>
                <a:srgbClr val="63666A"/>
              </a:solidFill>
              <a:latin typeface="Rasa"/>
              <a:ea typeface="Rasa"/>
              <a:cs typeface="Rasa"/>
              <a:sym typeface="Rasa"/>
            </a:endParaRPr>
          </a:p>
        </p:txBody>
      </p:sp>
      <p:pic>
        <p:nvPicPr>
          <p:cNvPr id="186" name="Google Shape;18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950" y="1020379"/>
            <a:ext cx="2721600" cy="4056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187" name="Google Shape;18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9250" y="997452"/>
            <a:ext cx="2722200" cy="40530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188" name="Google Shape;18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0200" y="867977"/>
            <a:ext cx="2724900" cy="42222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/>
        </p:nvSpPr>
        <p:spPr>
          <a:xfrm>
            <a:off x="340341" y="280452"/>
            <a:ext cx="78354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63666A"/>
                </a:solidFill>
                <a:latin typeface="Calibri"/>
                <a:ea typeface="Calibri"/>
                <a:cs typeface="Calibri"/>
                <a:sym typeface="Calibri"/>
              </a:rPr>
              <a:t>Snapshots of Prototype </a:t>
            </a:r>
            <a:endParaRPr b="0" i="1" sz="2400" u="none" cap="none" strike="noStrike">
              <a:solidFill>
                <a:srgbClr val="63666A"/>
              </a:solidFill>
              <a:latin typeface="Rasa"/>
              <a:ea typeface="Rasa"/>
              <a:cs typeface="Rasa"/>
              <a:sym typeface="Rasa"/>
            </a:endParaRPr>
          </a:p>
        </p:txBody>
      </p:sp>
      <p:pic>
        <p:nvPicPr>
          <p:cNvPr id="194" name="Google Shape;19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350" y="758077"/>
            <a:ext cx="2761800" cy="42222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195" name="Google Shape;19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4550" y="768852"/>
            <a:ext cx="2678100" cy="42222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196" name="Google Shape;19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5050" y="768852"/>
            <a:ext cx="2717400" cy="422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3"/>
          <p:cNvSpPr/>
          <p:nvPr/>
        </p:nvSpPr>
        <p:spPr>
          <a:xfrm>
            <a:off x="3305625" y="1865875"/>
            <a:ext cx="2678100" cy="893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/>
        </p:nvSpPr>
        <p:spPr>
          <a:xfrm>
            <a:off x="340351" y="280450"/>
            <a:ext cx="8442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Preliminary Results</a:t>
            </a:r>
            <a:r>
              <a:rPr b="1" i="1" lang="en" sz="2200">
                <a:solidFill>
                  <a:srgbClr val="63666A"/>
                </a:solidFill>
                <a:latin typeface="Calibri"/>
                <a:ea typeface="Calibri"/>
                <a:cs typeface="Calibri"/>
                <a:sym typeface="Calibri"/>
              </a:rPr>
              <a:t> - Report Analysis of a Patient (multilingual)</a:t>
            </a:r>
            <a:endParaRPr b="0" i="1" sz="2200" u="none" cap="none" strike="noStrike">
              <a:solidFill>
                <a:srgbClr val="63666A"/>
              </a:solidFill>
              <a:latin typeface="Rasa"/>
              <a:ea typeface="Rasa"/>
              <a:cs typeface="Rasa"/>
              <a:sym typeface="Rasa"/>
            </a:endParaRPr>
          </a:p>
        </p:txBody>
      </p:sp>
      <p:pic>
        <p:nvPicPr>
          <p:cNvPr id="203" name="Google Shape;20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53107"/>
            <a:ext cx="2741650" cy="4137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2275" y="768860"/>
            <a:ext cx="2741650" cy="4222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6325" y="837224"/>
            <a:ext cx="2741651" cy="4153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/>
        </p:nvSpPr>
        <p:spPr>
          <a:xfrm>
            <a:off x="340351" y="280450"/>
            <a:ext cx="8442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Preliminary Results</a:t>
            </a:r>
            <a:r>
              <a:rPr b="1" i="1" lang="en" sz="2200">
                <a:solidFill>
                  <a:srgbClr val="63666A"/>
                </a:solidFill>
                <a:latin typeface="Calibri"/>
                <a:ea typeface="Calibri"/>
                <a:cs typeface="Calibri"/>
                <a:sym typeface="Calibri"/>
              </a:rPr>
              <a:t> - Drug Safety Check of a Patient </a:t>
            </a:r>
            <a:endParaRPr b="0" i="1" sz="2200" u="none" cap="none" strike="noStrike">
              <a:solidFill>
                <a:srgbClr val="63666A"/>
              </a:solidFill>
              <a:latin typeface="Rasa"/>
              <a:ea typeface="Rasa"/>
              <a:cs typeface="Rasa"/>
              <a:sym typeface="Rasa"/>
            </a:endParaRPr>
          </a:p>
        </p:txBody>
      </p:sp>
      <p:pic>
        <p:nvPicPr>
          <p:cNvPr id="211" name="Google Shape;2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250" y="822100"/>
            <a:ext cx="2714700" cy="416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8350" y="817474"/>
            <a:ext cx="2714700" cy="4173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1225" y="821448"/>
            <a:ext cx="2714701" cy="416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36"/>
          <p:cNvGrpSpPr/>
          <p:nvPr/>
        </p:nvGrpSpPr>
        <p:grpSpPr>
          <a:xfrm>
            <a:off x="641200" y="972725"/>
            <a:ext cx="7447927" cy="4127725"/>
            <a:chOff x="673475" y="1015775"/>
            <a:chExt cx="7447927" cy="4127725"/>
          </a:xfrm>
        </p:grpSpPr>
        <p:pic>
          <p:nvPicPr>
            <p:cNvPr id="219" name="Google Shape;219;p36"/>
            <p:cNvPicPr preferRelativeResize="0"/>
            <p:nvPr/>
          </p:nvPicPr>
          <p:blipFill rotWithShape="1">
            <a:blip r:embed="rId3">
              <a:alphaModFix/>
            </a:blip>
            <a:srcRect b="29428" l="10485" r="31685" t="0"/>
            <a:stretch/>
          </p:blipFill>
          <p:spPr>
            <a:xfrm>
              <a:off x="673475" y="3504725"/>
              <a:ext cx="7447927" cy="1638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36"/>
            <p:cNvPicPr preferRelativeResize="0"/>
            <p:nvPr/>
          </p:nvPicPr>
          <p:blipFill rotWithShape="1">
            <a:blip r:embed="rId4">
              <a:alphaModFix/>
            </a:blip>
            <a:srcRect b="0" l="0" r="0" t="5847"/>
            <a:stretch/>
          </p:blipFill>
          <p:spPr>
            <a:xfrm>
              <a:off x="673475" y="1015775"/>
              <a:ext cx="7447926" cy="24889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1" name="Google Shape;221;p36"/>
          <p:cNvSpPr txBox="1"/>
          <p:nvPr/>
        </p:nvSpPr>
        <p:spPr>
          <a:xfrm>
            <a:off x="645151" y="204250"/>
            <a:ext cx="8442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Preliminary Results</a:t>
            </a:r>
            <a:r>
              <a:rPr b="1" i="1" lang="en" sz="2200">
                <a:solidFill>
                  <a:srgbClr val="63666A"/>
                </a:solidFill>
                <a:latin typeface="Calibri"/>
                <a:ea typeface="Calibri"/>
                <a:cs typeface="Calibri"/>
                <a:sym typeface="Calibri"/>
              </a:rPr>
              <a:t> - Sample Baby Cry Analysis </a:t>
            </a:r>
            <a:endParaRPr b="0" i="1" sz="2200" u="none" cap="none" strike="noStrike">
              <a:solidFill>
                <a:srgbClr val="63666A"/>
              </a:solidFill>
              <a:latin typeface="Rasa"/>
              <a:ea typeface="Rasa"/>
              <a:cs typeface="Rasa"/>
              <a:sym typeface="Rasa"/>
            </a:endParaRPr>
          </a:p>
        </p:txBody>
      </p:sp>
      <p:sp>
        <p:nvSpPr>
          <p:cNvPr id="222" name="Google Shape;222;p36"/>
          <p:cNvSpPr txBox="1"/>
          <p:nvPr/>
        </p:nvSpPr>
        <p:spPr>
          <a:xfrm>
            <a:off x="654825" y="636625"/>
            <a:ext cx="7447800" cy="378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Outperforms existing research with a top accuracy of </a:t>
            </a:r>
            <a:r>
              <a:rPr b="1" i="1" lang="en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98.7% and </a:t>
            </a:r>
            <a:r>
              <a:rPr b="1" i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 of</a:t>
            </a:r>
            <a:r>
              <a:rPr i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1.2ms per sample.</a:t>
            </a:r>
            <a:endParaRPr i="1">
              <a:solidFill>
                <a:schemeClr val="accent6"/>
              </a:solidFill>
              <a:latin typeface="Rasa"/>
              <a:ea typeface="Rasa"/>
              <a:cs typeface="Rasa"/>
              <a:sym typeface="Ras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/>
        </p:nvSpPr>
        <p:spPr>
          <a:xfrm>
            <a:off x="371520" y="201960"/>
            <a:ext cx="8400780" cy="430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63666A"/>
                </a:solidFill>
                <a:latin typeface="Rasa"/>
                <a:ea typeface="Rasa"/>
                <a:cs typeface="Rasa"/>
                <a:sym typeface="Rasa"/>
              </a:rPr>
              <a:t>References </a:t>
            </a:r>
            <a:endParaRPr b="0" i="0" sz="2100" u="none" cap="none" strike="noStrike">
              <a:solidFill>
                <a:srgbClr val="63666A"/>
              </a:solidFill>
              <a:latin typeface="Rasa"/>
              <a:ea typeface="Rasa"/>
              <a:cs typeface="Rasa"/>
              <a:sym typeface="Rasa"/>
            </a:endParaRPr>
          </a:p>
        </p:txBody>
      </p:sp>
      <p:sp>
        <p:nvSpPr>
          <p:cNvPr id="228" name="Google Shape;228;p37"/>
          <p:cNvSpPr txBox="1"/>
          <p:nvPr/>
        </p:nvSpPr>
        <p:spPr>
          <a:xfrm>
            <a:off x="357750" y="661150"/>
            <a:ext cx="8733300" cy="4870500"/>
          </a:xfrm>
          <a:prstGeom prst="rect">
            <a:avLst/>
          </a:prstGeom>
          <a:solidFill>
            <a:schemeClr val="lt1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Official Government Statistics:</a:t>
            </a:r>
            <a:endParaRPr b="1"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Press Information Bureau, Government of India</a:t>
            </a: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(2023). </a:t>
            </a:r>
            <a:r>
              <a:rPr lang="en" sz="10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3"/>
              </a:rPr>
              <a:t>https://www.pib.gov.in/PressReleasePage.aspx?PRID=1861710</a:t>
            </a:r>
            <a:endParaRPr sz="1000" u="sng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MacroTrends</a:t>
            </a: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(2024).</a:t>
            </a:r>
            <a:r>
              <a:rPr lang="en" sz="10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4"/>
              </a:rPr>
              <a:t>https://www.macrotrends.net/global-metrics/countries/IND/india/infant-mortality-rate</a:t>
            </a:r>
            <a:endParaRPr sz="1000" u="sng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Press Information Bureau, Government of India</a:t>
            </a: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(2024).</a:t>
            </a: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" sz="10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5"/>
              </a:rPr>
              <a:t>h</a:t>
            </a:r>
            <a:r>
              <a:rPr lang="en" sz="10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6"/>
              </a:rPr>
              <a:t>ttps://www.pib.gov.in/PressReleaseIframePage.aspx?PRID=2128024</a:t>
            </a:r>
            <a:endParaRPr sz="1000" u="sng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World Bank Data</a:t>
            </a: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(2024).</a:t>
            </a:r>
            <a:r>
              <a:rPr lang="en" sz="10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7"/>
              </a:rPr>
              <a:t>https://data.worldbank.org/indicator/SP.DYN.IMRT.IN?locations=IN</a:t>
            </a:r>
            <a:endParaRPr sz="1000" u="sng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Malnutrition &amp; Child Health Research:</a:t>
            </a:r>
            <a:endParaRPr b="1"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 startAt="5"/>
            </a:pPr>
            <a:r>
              <a:rPr b="1"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Goswami, I., et al.</a:t>
            </a: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(2024)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Merriweather"/>
                <a:ea typeface="Merriweather"/>
                <a:cs typeface="Merriweather"/>
                <a:sym typeface="Merriweather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9"/>
              </a:rPr>
              <a:t>https://www.sciencedirect.com/science/article/pii/S2213398423002373</a:t>
            </a:r>
            <a:endParaRPr sz="1000" u="sng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 startAt="5"/>
            </a:pPr>
            <a:r>
              <a:rPr b="1"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Observer Research Foundation</a:t>
            </a: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(2021). </a:t>
            </a:r>
            <a:r>
              <a:rPr lang="en" sz="10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10"/>
              </a:rPr>
              <a:t>https://www.orfonline.org/research/what-nfhs-5-data-shows</a:t>
            </a:r>
            <a:endParaRPr sz="1000" u="sng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 startAt="5"/>
            </a:pPr>
            <a:r>
              <a:rPr b="1"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Press Information Bureau, Government of India</a:t>
            </a: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" sz="10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11"/>
              </a:rPr>
              <a:t>https://www.pib.gov.in/PressReleasePage.aspx?PRID=1806601</a:t>
            </a:r>
            <a:endParaRPr sz="1000" u="sng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 startAt="5"/>
            </a:pPr>
            <a:r>
              <a:rPr b="1"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National Centre for Biotechnology Information</a:t>
            </a: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(2024). </a:t>
            </a:r>
            <a:r>
              <a:rPr lang="en" sz="10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12"/>
              </a:rPr>
              <a:t>https://pmc.ncbi.nlm.nih.gov/articles/PMC11009545/</a:t>
            </a:r>
            <a:endParaRPr sz="1000" u="sng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National Health Survey Reports:</a:t>
            </a:r>
            <a:endParaRPr b="1"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 startAt="5"/>
            </a:pPr>
            <a:r>
              <a:rPr b="1"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DHS Program</a:t>
            </a: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(2021). </a:t>
            </a:r>
            <a:r>
              <a:rPr lang="en" sz="10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13"/>
              </a:rPr>
              <a:t>https://dhsprogram.com/pubs/pdf/FR375/FR375.pdf</a:t>
            </a:r>
            <a:endParaRPr sz="1000" u="sng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 startAt="5"/>
            </a:pPr>
            <a:r>
              <a:rPr b="1"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Registrar General of India</a:t>
            </a: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(2025).</a:t>
            </a:r>
            <a:r>
              <a:rPr lang="en" sz="10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14"/>
              </a:rPr>
              <a:t>https://censusindia.gov.in/census.website/data/SRSMMB</a:t>
            </a:r>
            <a:endParaRPr sz="1000" u="sng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 startAt="5"/>
            </a:pPr>
            <a:r>
              <a:rPr b="1"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National Health Mission</a:t>
            </a: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(2024). </a:t>
            </a:r>
            <a:r>
              <a:rPr i="1"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Child Health</a:t>
            </a: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. </a:t>
            </a:r>
            <a:r>
              <a:rPr lang="en" sz="10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15"/>
              </a:rPr>
              <a:t>https://nhm.gov.in/index1.php?lang=1&amp;level=2&amp;sublinkid=819&amp;lid=219</a:t>
            </a:r>
            <a:endParaRPr sz="1000" u="sng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Academic Research:</a:t>
            </a:r>
            <a:endParaRPr b="1"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 startAt="5"/>
            </a:pPr>
            <a:r>
              <a:rPr b="1"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Nature Scientific Reports</a:t>
            </a: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(2023):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Merriweather"/>
                <a:ea typeface="Merriweather"/>
                <a:cs typeface="Merriweather"/>
                <a:sym typeface="Merriweather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17"/>
              </a:rPr>
              <a:t>https://www.nature.com/articles/s41598-023-37587-y</a:t>
            </a:r>
            <a:endParaRPr sz="1000" u="sng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 startAt="5"/>
            </a:pPr>
            <a:r>
              <a:rPr b="1"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National Centre for Biotechnology Information</a:t>
            </a: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(2024). </a:t>
            </a:r>
            <a:r>
              <a:rPr lang="en" sz="10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18"/>
              </a:rPr>
              <a:t>https://pmc.ncbi.nlm.nih.gov/articles/PMC10991083/</a:t>
            </a:r>
            <a:endParaRPr sz="1000" u="sng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 startAt="5"/>
            </a:pPr>
            <a:r>
              <a:rPr b="1"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ScienceDirect</a:t>
            </a:r>
            <a:r>
              <a:rPr lang="en" sz="1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(2022).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Merriweather"/>
                <a:ea typeface="Merriweather"/>
                <a:cs typeface="Merriweather"/>
                <a:sym typeface="Merriweather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20"/>
              </a:rPr>
              <a:t>https://www.sciencedirect.com/science/article/pii/S2213398422002007</a:t>
            </a:r>
            <a:endParaRPr sz="1000" u="sng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41300" lvl="1" marL="685800" marR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9" name="Google Shape;229;p37"/>
          <p:cNvSpPr txBox="1"/>
          <p:nvPr/>
        </p:nvSpPr>
        <p:spPr>
          <a:xfrm>
            <a:off x="8528220" y="4824360"/>
            <a:ext cx="247050" cy="1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63666A"/>
                </a:solidFill>
                <a:latin typeface="Rasa"/>
                <a:ea typeface="Rasa"/>
                <a:cs typeface="Rasa"/>
                <a:sym typeface="Rasa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