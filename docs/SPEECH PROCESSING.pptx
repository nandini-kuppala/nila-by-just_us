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Lato" charset="1" panose="020F0502020204030203"/>
      <p:regular r:id="rId36"/>
    </p:embeddedFont>
    <p:embeddedFont>
      <p:font typeface="Helios Extended Bold" charset="1" panose="02000805050000020004"/>
      <p:regular r:id="rId37"/>
    </p:embeddedFont>
    <p:embeddedFont>
      <p:font typeface="Lato Bold" charset="1" panose="020F0502020204030203"/>
      <p:regular r:id="rId38"/>
    </p:embeddedFont>
    <p:embeddedFont>
      <p:font typeface="Lato Bold Italics" charset="1" panose="020F0502020204030203"/>
      <p:regular r:id="rId39"/>
    </p:embeddedFont>
    <p:embeddedFont>
      <p:font typeface="Arimo" charset="1" panose="020B0604020202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https://pmc.ncbi.nlm.nih.gov/articles/PMC5323467/"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926279"/>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028700" y="90098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7010810" y="1028700"/>
            <a:ext cx="248490" cy="24849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5833437" y="6752590"/>
            <a:ext cx="3086100" cy="804358"/>
            <a:chOff x="0" y="0"/>
            <a:chExt cx="812800" cy="211847"/>
          </a:xfrm>
        </p:grpSpPr>
        <p:sp>
          <p:nvSpPr>
            <p:cNvPr name="Freeform 12" id="12"/>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name="TextBox 13" id="13"/>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Sarvesh K</a:t>
              </a:r>
            </a:p>
          </p:txBody>
        </p:sp>
      </p:grpSp>
      <p:sp>
        <p:nvSpPr>
          <p:cNvPr name="Freeform 14" id="14"/>
          <p:cNvSpPr/>
          <p:nvPr/>
        </p:nvSpPr>
        <p:spPr>
          <a:xfrm flipH="false" flipV="false" rot="0">
            <a:off x="8877077" y="2550163"/>
            <a:ext cx="533846" cy="589367"/>
          </a:xfrm>
          <a:custGeom>
            <a:avLst/>
            <a:gdLst/>
            <a:ahLst/>
            <a:cxnLst/>
            <a:rect r="r" b="b" t="t" l="l"/>
            <a:pathLst>
              <a:path h="589367" w="533846">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958126" y="3659446"/>
            <a:ext cx="12371749"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SPEECH PROCESSING</a:t>
            </a:r>
          </a:p>
        </p:txBody>
      </p:sp>
      <p:sp>
        <p:nvSpPr>
          <p:cNvPr name="TextBox 16" id="16"/>
          <p:cNvSpPr txBox="true"/>
          <p:nvPr/>
        </p:nvSpPr>
        <p:spPr>
          <a:xfrm rot="0">
            <a:off x="2958126" y="3130005"/>
            <a:ext cx="12371749" cy="405765"/>
          </a:xfrm>
          <a:prstGeom prst="rect">
            <a:avLst/>
          </a:prstGeom>
        </p:spPr>
        <p:txBody>
          <a:bodyPr anchor="t" rtlCol="false" tIns="0" lIns="0" bIns="0" rIns="0">
            <a:spAutoFit/>
          </a:bodyPr>
          <a:lstStyle/>
          <a:p>
            <a:pPr algn="ctr" marL="0" indent="0" lvl="0">
              <a:lnSpc>
                <a:spcPts val="3359"/>
              </a:lnSpc>
              <a:spcBef>
                <a:spcPct val="0"/>
              </a:spcBef>
            </a:pPr>
            <a:r>
              <a:rPr lang="en-US" sz="2399" spc="239">
                <a:solidFill>
                  <a:srgbClr val="000000"/>
                </a:solidFill>
                <a:latin typeface="Lato"/>
                <a:ea typeface="Lato"/>
                <a:cs typeface="Lato"/>
                <a:sym typeface="Lato"/>
              </a:rPr>
              <a:t>BATCH - B</a:t>
            </a:r>
            <a:r>
              <a:rPr lang="en-US" b="true" sz="2399" spc="239">
                <a:solidFill>
                  <a:srgbClr val="000000"/>
                </a:solidFill>
                <a:latin typeface="Lato Bold"/>
                <a:ea typeface="Lato Bold"/>
                <a:cs typeface="Lato Bold"/>
                <a:sym typeface="Lato Bold"/>
              </a:rPr>
              <a:t> GROUP 1</a:t>
            </a:r>
          </a:p>
        </p:txBody>
      </p:sp>
      <p:grpSp>
        <p:nvGrpSpPr>
          <p:cNvPr name="Group 17" id="17"/>
          <p:cNvGrpSpPr/>
          <p:nvPr/>
        </p:nvGrpSpPr>
        <p:grpSpPr>
          <a:xfrm rot="0">
            <a:off x="9233862" y="6752590"/>
            <a:ext cx="3086100" cy="804358"/>
            <a:chOff x="0" y="0"/>
            <a:chExt cx="812800" cy="211847"/>
          </a:xfrm>
        </p:grpSpPr>
        <p:sp>
          <p:nvSpPr>
            <p:cNvPr name="Freeform 18" id="18"/>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name="TextBox 19" id="19"/>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Vishal A S </a:t>
              </a:r>
            </a:p>
          </p:txBody>
        </p:sp>
      </p:grpSp>
      <p:grpSp>
        <p:nvGrpSpPr>
          <p:cNvPr name="Group 20" id="20"/>
          <p:cNvGrpSpPr/>
          <p:nvPr/>
        </p:nvGrpSpPr>
        <p:grpSpPr>
          <a:xfrm rot="0">
            <a:off x="12881214" y="6752590"/>
            <a:ext cx="3086100" cy="804358"/>
            <a:chOff x="0" y="0"/>
            <a:chExt cx="812800" cy="211847"/>
          </a:xfrm>
        </p:grpSpPr>
        <p:sp>
          <p:nvSpPr>
            <p:cNvPr name="Freeform 21" id="21"/>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name="TextBox 22" id="22"/>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Durai Singh K</a:t>
              </a:r>
            </a:p>
          </p:txBody>
        </p:sp>
      </p:grpSp>
      <p:grpSp>
        <p:nvGrpSpPr>
          <p:cNvPr name="Group 23" id="23"/>
          <p:cNvGrpSpPr/>
          <p:nvPr/>
        </p:nvGrpSpPr>
        <p:grpSpPr>
          <a:xfrm rot="0">
            <a:off x="2437373" y="6804473"/>
            <a:ext cx="3086100" cy="804358"/>
            <a:chOff x="0" y="0"/>
            <a:chExt cx="812800" cy="211847"/>
          </a:xfrm>
        </p:grpSpPr>
        <p:sp>
          <p:nvSpPr>
            <p:cNvPr name="Freeform 24" id="24"/>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name="TextBox 25" id="25"/>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Kishor S </a:t>
              </a:r>
            </a:p>
          </p:txBody>
        </p:sp>
      </p:grpSp>
      <p:sp>
        <p:nvSpPr>
          <p:cNvPr name="TextBox 26" id="26"/>
          <p:cNvSpPr txBox="true"/>
          <p:nvPr/>
        </p:nvSpPr>
        <p:spPr>
          <a:xfrm rot="0">
            <a:off x="570875" y="5542915"/>
            <a:ext cx="17325975" cy="472842"/>
          </a:xfrm>
          <a:prstGeom prst="rect">
            <a:avLst/>
          </a:prstGeom>
        </p:spPr>
        <p:txBody>
          <a:bodyPr anchor="t" rtlCol="false" tIns="0" lIns="0" bIns="0" rIns="0">
            <a:spAutoFit/>
          </a:bodyPr>
          <a:lstStyle/>
          <a:p>
            <a:pPr algn="ctr">
              <a:lnSpc>
                <a:spcPts val="3862"/>
              </a:lnSpc>
              <a:spcBef>
                <a:spcPct val="0"/>
              </a:spcBef>
            </a:pPr>
            <a:r>
              <a:rPr lang="en-US" b="true" sz="2759" i="true" spc="275">
                <a:solidFill>
                  <a:srgbClr val="000000"/>
                </a:solidFill>
                <a:latin typeface="Lato Bold Italics"/>
                <a:ea typeface="Lato Bold Italics"/>
                <a:cs typeface="Lato Bold Italics"/>
                <a:sym typeface="Lato Bold Italics"/>
              </a:rPr>
              <a:t>Why is My Baby Crying? Explainable Emotion Recognition with Domain-Aware Ensemble Models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81749" y="1462050"/>
            <a:ext cx="15529061"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PROBLEM STATEMENT </a:t>
            </a:r>
          </a:p>
        </p:txBody>
      </p:sp>
      <p:sp>
        <p:nvSpPr>
          <p:cNvPr name="TextBox 3" id="3"/>
          <p:cNvSpPr txBox="true"/>
          <p:nvPr/>
        </p:nvSpPr>
        <p:spPr>
          <a:xfrm rot="0">
            <a:off x="2360455" y="2837536"/>
            <a:ext cx="13944199" cy="2036145"/>
          </a:xfrm>
          <a:prstGeom prst="rect">
            <a:avLst/>
          </a:prstGeom>
        </p:spPr>
        <p:txBody>
          <a:bodyPr anchor="t" rtlCol="false" tIns="0" lIns="0" bIns="0" rIns="0">
            <a:spAutoFit/>
          </a:bodyPr>
          <a:lstStyle/>
          <a:p>
            <a:pPr algn="l" marL="504515" indent="-252257" lvl="1">
              <a:lnSpc>
                <a:spcPts val="3271"/>
              </a:lnSpc>
              <a:buAutoNum type="arabicPeriod" startAt="1"/>
            </a:pPr>
            <a:r>
              <a:rPr lang="en-US" sz="2336" spc="233">
                <a:solidFill>
                  <a:srgbClr val="000000"/>
                </a:solidFill>
                <a:latin typeface="Lato"/>
                <a:ea typeface="Lato"/>
                <a:cs typeface="Lato"/>
                <a:sym typeface="Lato"/>
              </a:rPr>
              <a:t>Infants communicate their needs primarily through crying</a:t>
            </a:r>
          </a:p>
          <a:p>
            <a:pPr algn="l" marL="504515" indent="-252257" lvl="1">
              <a:lnSpc>
                <a:spcPts val="3271"/>
              </a:lnSpc>
              <a:buAutoNum type="arabicPeriod" startAt="1"/>
            </a:pPr>
            <a:r>
              <a:rPr lang="en-US" sz="2336" spc="233">
                <a:solidFill>
                  <a:srgbClr val="000000"/>
                </a:solidFill>
                <a:latin typeface="Lato"/>
                <a:ea typeface="Lato"/>
                <a:cs typeface="Lato"/>
                <a:sym typeface="Lato"/>
              </a:rPr>
              <a:t>But distinguishing the reason—whether it's hunger, discomfort, pain, or illness—can be challenging for parents. </a:t>
            </a:r>
          </a:p>
          <a:p>
            <a:pPr algn="l" marL="504515" indent="-252257" lvl="1">
              <a:lnSpc>
                <a:spcPts val="3271"/>
              </a:lnSpc>
              <a:buAutoNum type="arabicPeriod" startAt="1"/>
            </a:pPr>
            <a:r>
              <a:rPr lang="en-US" sz="2336" spc="233">
                <a:solidFill>
                  <a:srgbClr val="000000"/>
                </a:solidFill>
                <a:latin typeface="Lato"/>
                <a:ea typeface="Lato"/>
                <a:cs typeface="Lato"/>
                <a:sym typeface="Lato"/>
              </a:rPr>
              <a:t>Misinterpretation of a baby's cry can lead to delayed responses, increased parental stress, and potential health risks for the baby.</a:t>
            </a:r>
          </a:p>
        </p:txBody>
      </p:sp>
      <p:grpSp>
        <p:nvGrpSpPr>
          <p:cNvPr name="Group 4" id="4"/>
          <p:cNvGrpSpPr/>
          <p:nvPr/>
        </p:nvGrpSpPr>
        <p:grpSpPr>
          <a:xfrm rot="0">
            <a:off x="1028700" y="9009810"/>
            <a:ext cx="248490" cy="24849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7010810" y="1028700"/>
            <a:ext cx="248490" cy="24849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AutoShape 10" id="10"/>
          <p:cNvSpPr/>
          <p:nvPr/>
        </p:nvSpPr>
        <p:spPr>
          <a:xfrm flipH="true">
            <a:off x="1033463" y="0"/>
            <a:ext cx="0" cy="3334176"/>
          </a:xfrm>
          <a:prstGeom prst="line">
            <a:avLst/>
          </a:prstGeom>
          <a:ln cap="flat" w="57150">
            <a:solidFill>
              <a:srgbClr val="4E6E81"/>
            </a:solidFill>
            <a:prstDash val="sysDash"/>
            <a:headEnd type="none" len="sm" w="sm"/>
            <a:tailEnd type="none" len="sm" w="sm"/>
          </a:ln>
        </p:spPr>
      </p:sp>
      <p:sp>
        <p:nvSpPr>
          <p:cNvPr name="TextBox 11" id="11"/>
          <p:cNvSpPr txBox="true"/>
          <p:nvPr/>
        </p:nvSpPr>
        <p:spPr>
          <a:xfrm rot="0">
            <a:off x="1654298" y="6927645"/>
            <a:ext cx="15605002" cy="2082165"/>
          </a:xfrm>
          <a:prstGeom prst="rect">
            <a:avLst/>
          </a:prstGeom>
        </p:spPr>
        <p:txBody>
          <a:bodyPr anchor="t" rtlCol="false" tIns="0" lIns="0" bIns="0" rIns="0">
            <a:spAutoFit/>
          </a:bodyPr>
          <a:lstStyle/>
          <a:p>
            <a:pPr algn="ctr" marL="518158" indent="-259079" lvl="1">
              <a:lnSpc>
                <a:spcPts val="3359"/>
              </a:lnSpc>
              <a:buFont typeface="Arial"/>
              <a:buChar char="•"/>
            </a:pPr>
            <a:r>
              <a:rPr lang="en-US" sz="2399" spc="239">
                <a:solidFill>
                  <a:srgbClr val="000000"/>
                </a:solidFill>
                <a:latin typeface="Lato"/>
                <a:ea typeface="Lato"/>
                <a:cs typeface="Lato"/>
                <a:sym typeface="Lato"/>
              </a:rPr>
              <a:t>A study found that </a:t>
            </a:r>
            <a:r>
              <a:rPr lang="en-US" b="true" sz="2399" spc="239">
                <a:solidFill>
                  <a:srgbClr val="000000"/>
                </a:solidFill>
                <a:latin typeface="Lato Bold"/>
                <a:ea typeface="Lato Bold"/>
                <a:cs typeface="Lato Bold"/>
                <a:sym typeface="Lato Bold"/>
              </a:rPr>
              <a:t>5.6%</a:t>
            </a:r>
            <a:r>
              <a:rPr lang="en-US" sz="2399" spc="239">
                <a:solidFill>
                  <a:srgbClr val="000000"/>
                </a:solidFill>
                <a:latin typeface="Lato"/>
                <a:ea typeface="Lato"/>
                <a:cs typeface="Lato"/>
                <a:sym typeface="Lato"/>
              </a:rPr>
              <a:t> of parents of 6-month-old infants reported resorting to actions like smothering, slapping, or shaking their baby due to crying.[1]</a:t>
            </a:r>
          </a:p>
          <a:p>
            <a:pPr algn="ctr" marL="518158" indent="-259079" lvl="1">
              <a:lnSpc>
                <a:spcPts val="3359"/>
              </a:lnSpc>
              <a:buFont typeface="Arial"/>
              <a:buChar char="•"/>
            </a:pPr>
            <a:r>
              <a:rPr lang="en-US" sz="2399" spc="239">
                <a:solidFill>
                  <a:srgbClr val="000000"/>
                </a:solidFill>
                <a:latin typeface="Lato"/>
                <a:ea typeface="Lato"/>
                <a:cs typeface="Lato"/>
                <a:sym typeface="Lato"/>
              </a:rPr>
              <a:t>Up to </a:t>
            </a:r>
            <a:r>
              <a:rPr lang="en-US" b="true" sz="2399" spc="239">
                <a:solidFill>
                  <a:srgbClr val="000000"/>
                </a:solidFill>
                <a:latin typeface="Lato Bold"/>
                <a:ea typeface="Lato Bold"/>
                <a:cs typeface="Lato Bold"/>
                <a:sym typeface="Lato Bold"/>
              </a:rPr>
              <a:t>27%</a:t>
            </a:r>
            <a:r>
              <a:rPr lang="en-US" sz="2399" spc="239">
                <a:solidFill>
                  <a:srgbClr val="000000"/>
                </a:solidFill>
                <a:latin typeface="Lato"/>
                <a:ea typeface="Lato"/>
                <a:cs typeface="Lato"/>
                <a:sym typeface="Lato"/>
              </a:rPr>
              <a:t> of parents describe problems with infant crying in the first four months.[2]</a:t>
            </a:r>
          </a:p>
          <a:p>
            <a:pPr algn="ctr" marL="518158" indent="-259079" lvl="1">
              <a:lnSpc>
                <a:spcPts val="3359"/>
              </a:lnSpc>
              <a:buFont typeface="Arial"/>
              <a:buChar char="•"/>
            </a:pPr>
            <a:r>
              <a:rPr lang="en-US" sz="2399" spc="239">
                <a:solidFill>
                  <a:srgbClr val="000000"/>
                </a:solidFill>
                <a:latin typeface="Lato"/>
                <a:ea typeface="Lato"/>
                <a:cs typeface="Lato"/>
                <a:sym typeface="Lato"/>
              </a:rPr>
              <a:t>Excessive crying affects around </a:t>
            </a:r>
            <a:r>
              <a:rPr lang="en-US" b="true" sz="2399" spc="239">
                <a:solidFill>
                  <a:srgbClr val="000000"/>
                </a:solidFill>
                <a:latin typeface="Lato Bold"/>
                <a:ea typeface="Lato Bold"/>
                <a:cs typeface="Lato Bold"/>
                <a:sym typeface="Lato Bold"/>
              </a:rPr>
              <a:t>20%</a:t>
            </a:r>
            <a:r>
              <a:rPr lang="en-US" sz="2399" spc="239">
                <a:solidFill>
                  <a:srgbClr val="000000"/>
                </a:solidFill>
                <a:latin typeface="Lato"/>
                <a:ea typeface="Lato"/>
                <a:cs typeface="Lato"/>
                <a:sym typeface="Lato"/>
              </a:rPr>
              <a:t> of infants in the first months of life and is linked to parental anxiety and depression.[3]</a:t>
            </a:r>
          </a:p>
        </p:txBody>
      </p:sp>
      <p:sp>
        <p:nvSpPr>
          <p:cNvPr name="TextBox 12" id="12"/>
          <p:cNvSpPr txBox="true"/>
          <p:nvPr/>
        </p:nvSpPr>
        <p:spPr>
          <a:xfrm rot="0">
            <a:off x="1481749" y="5542915"/>
            <a:ext cx="15529061"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STUDY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0981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7010810" y="102870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AutoShape 8" id="8"/>
          <p:cNvSpPr/>
          <p:nvPr/>
        </p:nvSpPr>
        <p:spPr>
          <a:xfrm flipH="true">
            <a:off x="1033463" y="0"/>
            <a:ext cx="0" cy="3334176"/>
          </a:xfrm>
          <a:prstGeom prst="line">
            <a:avLst/>
          </a:prstGeom>
          <a:ln cap="flat" w="57150">
            <a:solidFill>
              <a:srgbClr val="4E6E81"/>
            </a:solidFill>
            <a:prstDash val="sysDash"/>
            <a:headEnd type="none" len="sm" w="sm"/>
            <a:tailEnd type="none" len="sm" w="sm"/>
          </a:ln>
        </p:spPr>
      </p:sp>
      <p:sp>
        <p:nvSpPr>
          <p:cNvPr name="Freeform 9" id="9"/>
          <p:cNvSpPr/>
          <p:nvPr/>
        </p:nvSpPr>
        <p:spPr>
          <a:xfrm flipH="false" flipV="false" rot="0">
            <a:off x="2686612" y="2238032"/>
            <a:ext cx="13731645" cy="7226278"/>
          </a:xfrm>
          <a:custGeom>
            <a:avLst/>
            <a:gdLst/>
            <a:ahLst/>
            <a:cxnLst/>
            <a:rect r="r" b="b" t="t" l="l"/>
            <a:pathLst>
              <a:path h="7226278" w="13731645">
                <a:moveTo>
                  <a:pt x="0" y="0"/>
                </a:moveTo>
                <a:lnTo>
                  <a:pt x="13731645" y="0"/>
                </a:lnTo>
                <a:lnTo>
                  <a:pt x="13731645" y="7226278"/>
                </a:lnTo>
                <a:lnTo>
                  <a:pt x="0" y="7226278"/>
                </a:lnTo>
                <a:lnTo>
                  <a:pt x="0" y="0"/>
                </a:lnTo>
                <a:close/>
              </a:path>
            </a:pathLst>
          </a:custGeom>
          <a:blipFill>
            <a:blip r:embed="rId2"/>
            <a:stretch>
              <a:fillRect l="0" t="0" r="0" b="0"/>
            </a:stretch>
          </a:blipFill>
        </p:spPr>
      </p:sp>
      <p:sp>
        <p:nvSpPr>
          <p:cNvPr name="TextBox 10" id="10"/>
          <p:cNvSpPr txBox="true"/>
          <p:nvPr/>
        </p:nvSpPr>
        <p:spPr>
          <a:xfrm rot="0">
            <a:off x="1481749" y="658065"/>
            <a:ext cx="15529061"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MOTIVATION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3699" y="2141754"/>
            <a:ext cx="14253848" cy="7530465"/>
          </a:xfrm>
          <a:prstGeom prst="rect">
            <a:avLst/>
          </a:prstGeom>
        </p:spPr>
        <p:txBody>
          <a:bodyPr anchor="t" rtlCol="false" tIns="0" lIns="0" bIns="0" rIns="0">
            <a:spAutoFit/>
          </a:bodyPr>
          <a:lstStyle/>
          <a:p>
            <a:pPr algn="l" marL="518158" indent="-259079" lvl="1">
              <a:lnSpc>
                <a:spcPts val="3359"/>
              </a:lnSpc>
              <a:buFont typeface="Arial"/>
              <a:buChar char="•"/>
            </a:pPr>
            <a:r>
              <a:rPr lang="en-US" sz="2399" spc="239">
                <a:solidFill>
                  <a:srgbClr val="000000"/>
                </a:solidFill>
                <a:latin typeface="Lato"/>
                <a:ea typeface="Lato"/>
                <a:cs typeface="Lato"/>
                <a:sym typeface="Lato"/>
              </a:rPr>
              <a:t>Classify Baby Cries – Develop an AI-based system to classify the reasons behind a baby’s cry.</a:t>
            </a:r>
          </a:p>
          <a:p>
            <a:pPr algn="l">
              <a:lnSpc>
                <a:spcPts val="3359"/>
              </a:lnSpc>
            </a:pPr>
          </a:p>
          <a:p>
            <a:pPr algn="l" marL="518158" indent="-259079" lvl="1">
              <a:lnSpc>
                <a:spcPts val="3359"/>
              </a:lnSpc>
              <a:buFont typeface="Arial"/>
              <a:buChar char="•"/>
            </a:pPr>
            <a:r>
              <a:rPr lang="en-US" sz="2399" spc="239">
                <a:solidFill>
                  <a:srgbClr val="000000"/>
                </a:solidFill>
                <a:latin typeface="Lato"/>
                <a:ea typeface="Lato"/>
                <a:cs typeface="Lato"/>
                <a:sym typeface="Lato"/>
              </a:rPr>
              <a:t>Send Real-time Alerts – Notify parents via mobile messages with the detected reason and suggested actions.</a:t>
            </a:r>
          </a:p>
          <a:p>
            <a:pPr algn="l">
              <a:lnSpc>
                <a:spcPts val="3359"/>
              </a:lnSpc>
            </a:pPr>
          </a:p>
          <a:p>
            <a:pPr algn="l" marL="518158" indent="-259079" lvl="1">
              <a:lnSpc>
                <a:spcPts val="3359"/>
              </a:lnSpc>
              <a:buFont typeface="Arial"/>
              <a:buChar char="•"/>
            </a:pPr>
            <a:r>
              <a:rPr lang="en-US" sz="2399" spc="239">
                <a:solidFill>
                  <a:srgbClr val="000000"/>
                </a:solidFill>
                <a:latin typeface="Lato"/>
                <a:ea typeface="Lato"/>
                <a:cs typeface="Lato"/>
                <a:sym typeface="Lato"/>
              </a:rPr>
              <a:t>Interpretability &amp; Explainability – Build a model that provides insights into why a specific decision was made, contributing to future research.</a:t>
            </a:r>
          </a:p>
          <a:p>
            <a:pPr algn="l">
              <a:lnSpc>
                <a:spcPts val="3359"/>
              </a:lnSpc>
            </a:pPr>
          </a:p>
          <a:p>
            <a:pPr algn="l" marL="518158" indent="-259079" lvl="1">
              <a:lnSpc>
                <a:spcPts val="3359"/>
              </a:lnSpc>
              <a:buFont typeface="Arial"/>
              <a:buChar char="•"/>
            </a:pPr>
            <a:r>
              <a:rPr lang="en-US" sz="2399" spc="239">
                <a:solidFill>
                  <a:srgbClr val="000000"/>
                </a:solidFill>
                <a:latin typeface="Lato"/>
                <a:ea typeface="Lato"/>
                <a:cs typeface="Lato"/>
                <a:sym typeface="Lato"/>
              </a:rPr>
              <a:t>Feature Importance Analysis – Identify which Feature  contribute the most to of baby cry emotion.</a:t>
            </a:r>
          </a:p>
          <a:p>
            <a:pPr algn="l">
              <a:lnSpc>
                <a:spcPts val="3359"/>
              </a:lnSpc>
            </a:pPr>
          </a:p>
          <a:p>
            <a:pPr algn="l" marL="518158" indent="-259079" lvl="1">
              <a:lnSpc>
                <a:spcPts val="3359"/>
              </a:lnSpc>
              <a:buFont typeface="Arial"/>
              <a:buChar char="•"/>
            </a:pPr>
            <a:r>
              <a:rPr lang="en-US" sz="2399" spc="239">
                <a:solidFill>
                  <a:srgbClr val="000000"/>
                </a:solidFill>
                <a:latin typeface="Lato"/>
                <a:ea typeface="Lato"/>
                <a:cs typeface="Lato"/>
                <a:sym typeface="Lato"/>
              </a:rPr>
              <a:t>Efficiency &amp; Performance Optimization – Develop a model that is computationally efficient while maintaining high accuracy.</a:t>
            </a:r>
          </a:p>
          <a:p>
            <a:pPr algn="l">
              <a:lnSpc>
                <a:spcPts val="3359"/>
              </a:lnSpc>
            </a:pPr>
          </a:p>
          <a:p>
            <a:pPr algn="l" marL="518158" indent="-259079" lvl="1">
              <a:lnSpc>
                <a:spcPts val="3359"/>
              </a:lnSpc>
              <a:buFont typeface="Arial"/>
              <a:buChar char="•"/>
            </a:pPr>
            <a:r>
              <a:rPr lang="en-US" sz="2399" spc="239">
                <a:solidFill>
                  <a:srgbClr val="000000"/>
                </a:solidFill>
                <a:latin typeface="Lato"/>
                <a:ea typeface="Lato"/>
                <a:cs typeface="Lato"/>
                <a:sym typeface="Lato"/>
              </a:rPr>
              <a:t>Alternative to Deep Learning Models – Most high-accuracy models on the Donate-a-Cry dataset rely on deep learning. We aim to develop an efficient and interpretable alternative.</a:t>
            </a:r>
          </a:p>
        </p:txBody>
      </p:sp>
      <p:sp>
        <p:nvSpPr>
          <p:cNvPr name="Freeform 3" id="3"/>
          <p:cNvSpPr/>
          <p:nvPr/>
        </p:nvSpPr>
        <p:spPr>
          <a:xfrm flipH="false" flipV="false" rot="0">
            <a:off x="15003443" y="2063873"/>
            <a:ext cx="1363207" cy="827838"/>
          </a:xfrm>
          <a:custGeom>
            <a:avLst/>
            <a:gdLst/>
            <a:ahLst/>
            <a:cxnLst/>
            <a:rect r="r" b="b" t="t" l="l"/>
            <a:pathLst>
              <a:path h="827838" w="1363207">
                <a:moveTo>
                  <a:pt x="0" y="0"/>
                </a:moveTo>
                <a:lnTo>
                  <a:pt x="1363207" y="0"/>
                </a:lnTo>
                <a:lnTo>
                  <a:pt x="1363207" y="827839"/>
                </a:lnTo>
                <a:lnTo>
                  <a:pt x="0" y="827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03443" y="3323151"/>
            <a:ext cx="1326168" cy="981364"/>
          </a:xfrm>
          <a:custGeom>
            <a:avLst/>
            <a:gdLst/>
            <a:ahLst/>
            <a:cxnLst/>
            <a:rect r="r" b="b" t="t" l="l"/>
            <a:pathLst>
              <a:path h="981364" w="1326168">
                <a:moveTo>
                  <a:pt x="0" y="0"/>
                </a:moveTo>
                <a:lnTo>
                  <a:pt x="1326167" y="0"/>
                </a:lnTo>
                <a:lnTo>
                  <a:pt x="1326167" y="981364"/>
                </a:lnTo>
                <a:lnTo>
                  <a:pt x="0" y="981364"/>
                </a:lnTo>
                <a:lnTo>
                  <a:pt x="0" y="0"/>
                </a:lnTo>
                <a:close/>
              </a:path>
            </a:pathLst>
          </a:custGeom>
          <a:blipFill>
            <a:blip r:embed="rId4"/>
            <a:stretch>
              <a:fillRect l="0" t="0" r="0" b="0"/>
            </a:stretch>
          </a:blipFill>
        </p:spPr>
      </p:sp>
      <p:sp>
        <p:nvSpPr>
          <p:cNvPr name="Freeform 5" id="5"/>
          <p:cNvSpPr/>
          <p:nvPr/>
        </p:nvSpPr>
        <p:spPr>
          <a:xfrm flipH="false" flipV="false" rot="0">
            <a:off x="15226257" y="4593714"/>
            <a:ext cx="917577" cy="917577"/>
          </a:xfrm>
          <a:custGeom>
            <a:avLst/>
            <a:gdLst/>
            <a:ahLst/>
            <a:cxnLst/>
            <a:rect r="r" b="b" t="t" l="l"/>
            <a:pathLst>
              <a:path h="917577" w="917577">
                <a:moveTo>
                  <a:pt x="0" y="0"/>
                </a:moveTo>
                <a:lnTo>
                  <a:pt x="917578" y="0"/>
                </a:lnTo>
                <a:lnTo>
                  <a:pt x="917578" y="917577"/>
                </a:lnTo>
                <a:lnTo>
                  <a:pt x="0" y="9175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840857" y="5939916"/>
            <a:ext cx="2773417" cy="767897"/>
          </a:xfrm>
          <a:custGeom>
            <a:avLst/>
            <a:gdLst/>
            <a:ahLst/>
            <a:cxnLst/>
            <a:rect r="r" b="b" t="t" l="l"/>
            <a:pathLst>
              <a:path h="767897" w="2773417">
                <a:moveTo>
                  <a:pt x="0" y="0"/>
                </a:moveTo>
                <a:lnTo>
                  <a:pt x="2773417" y="0"/>
                </a:lnTo>
                <a:lnTo>
                  <a:pt x="2773417" y="767898"/>
                </a:lnTo>
                <a:lnTo>
                  <a:pt x="0" y="767898"/>
                </a:lnTo>
                <a:lnTo>
                  <a:pt x="0" y="0"/>
                </a:lnTo>
                <a:close/>
              </a:path>
            </a:pathLst>
          </a:custGeom>
          <a:blipFill>
            <a:blip r:embed="rId7"/>
            <a:stretch>
              <a:fillRect l="0" t="0" r="0" b="0"/>
            </a:stretch>
          </a:blipFill>
        </p:spPr>
      </p:sp>
      <p:sp>
        <p:nvSpPr>
          <p:cNvPr name="Freeform 7" id="7"/>
          <p:cNvSpPr/>
          <p:nvPr/>
        </p:nvSpPr>
        <p:spPr>
          <a:xfrm flipH="false" flipV="false" rot="0">
            <a:off x="15420605" y="6993564"/>
            <a:ext cx="946044" cy="1170394"/>
          </a:xfrm>
          <a:custGeom>
            <a:avLst/>
            <a:gdLst/>
            <a:ahLst/>
            <a:cxnLst/>
            <a:rect r="r" b="b" t="t" l="l"/>
            <a:pathLst>
              <a:path h="1170394" w="946044">
                <a:moveTo>
                  <a:pt x="0" y="0"/>
                </a:moveTo>
                <a:lnTo>
                  <a:pt x="946045" y="0"/>
                </a:lnTo>
                <a:lnTo>
                  <a:pt x="946045" y="1170393"/>
                </a:lnTo>
                <a:lnTo>
                  <a:pt x="0" y="11703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420605" y="8460281"/>
            <a:ext cx="1036925" cy="1036925"/>
          </a:xfrm>
          <a:custGeom>
            <a:avLst/>
            <a:gdLst/>
            <a:ahLst/>
            <a:cxnLst/>
            <a:rect r="r" b="b" t="t" l="l"/>
            <a:pathLst>
              <a:path h="1036925" w="1036925">
                <a:moveTo>
                  <a:pt x="0" y="0"/>
                </a:moveTo>
                <a:lnTo>
                  <a:pt x="1036925" y="0"/>
                </a:lnTo>
                <a:lnTo>
                  <a:pt x="1036925" y="1036925"/>
                </a:lnTo>
                <a:lnTo>
                  <a:pt x="0" y="1036925"/>
                </a:lnTo>
                <a:lnTo>
                  <a:pt x="0" y="0"/>
                </a:lnTo>
                <a:close/>
              </a:path>
            </a:pathLst>
          </a:custGeom>
          <a:blipFill>
            <a:blip r:embed="rId10"/>
            <a:stretch>
              <a:fillRect l="0" t="0" r="0" b="0"/>
            </a:stretch>
          </a:blipFill>
        </p:spPr>
      </p:sp>
      <p:sp>
        <p:nvSpPr>
          <p:cNvPr name="TextBox 9" id="9"/>
          <p:cNvSpPr txBox="true"/>
          <p:nvPr/>
        </p:nvSpPr>
        <p:spPr>
          <a:xfrm rot="0">
            <a:off x="755157" y="407069"/>
            <a:ext cx="6705466" cy="1081336"/>
          </a:xfrm>
          <a:prstGeom prst="rect">
            <a:avLst/>
          </a:prstGeom>
        </p:spPr>
        <p:txBody>
          <a:bodyPr anchor="t" rtlCol="false" tIns="0" lIns="0" bIns="0" rIns="0">
            <a:spAutoFit/>
          </a:bodyPr>
          <a:lstStyle/>
          <a:p>
            <a:pPr algn="l" marL="0" indent="0" lvl="0">
              <a:lnSpc>
                <a:spcPts val="8446"/>
              </a:lnSpc>
            </a:pPr>
            <a:r>
              <a:rPr lang="en-US" b="true" sz="6032" spc="301">
                <a:solidFill>
                  <a:srgbClr val="000000"/>
                </a:solidFill>
                <a:latin typeface="Helios Extended Bold"/>
                <a:ea typeface="Helios Extended Bold"/>
                <a:cs typeface="Helios Extended Bold"/>
                <a:sym typeface="Helios Extended Bold"/>
              </a:rPr>
              <a:t>OBJECTIVE</a:t>
            </a:r>
          </a:p>
        </p:txBody>
      </p:sp>
      <p:sp>
        <p:nvSpPr>
          <p:cNvPr name="TextBox 10" id="10"/>
          <p:cNvSpPr txBox="true"/>
          <p:nvPr/>
        </p:nvSpPr>
        <p:spPr>
          <a:xfrm rot="0">
            <a:off x="15123172" y="8267897"/>
            <a:ext cx="1741722" cy="1278816"/>
          </a:xfrm>
          <a:prstGeom prst="rect">
            <a:avLst/>
          </a:prstGeom>
        </p:spPr>
        <p:txBody>
          <a:bodyPr anchor="t" rtlCol="false" tIns="0" lIns="0" bIns="0" rIns="0">
            <a:spAutoFit/>
          </a:bodyPr>
          <a:lstStyle/>
          <a:p>
            <a:pPr algn="ctr">
              <a:lnSpc>
                <a:spcPts val="10581"/>
              </a:lnSpc>
              <a:spcBef>
                <a:spcPct val="0"/>
              </a:spcBef>
            </a:pPr>
            <a:r>
              <a:rPr lang="en-US" sz="7558" spc="755">
                <a:solidFill>
                  <a:srgbClr val="F41823"/>
                </a:solidFill>
                <a:latin typeface="Lato"/>
                <a:ea typeface="Lato"/>
                <a:cs typeface="Lato"/>
                <a:sym typeface="Lato"/>
              </a:rPr>
              <a:t>X</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80210"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7927028" y="3778964"/>
            <a:ext cx="8640600" cy="5843206"/>
          </a:xfrm>
          <a:custGeom>
            <a:avLst/>
            <a:gdLst/>
            <a:ahLst/>
            <a:cxnLst/>
            <a:rect r="r" b="b" t="t" l="l"/>
            <a:pathLst>
              <a:path h="5843206" w="8640600">
                <a:moveTo>
                  <a:pt x="0" y="0"/>
                </a:moveTo>
                <a:lnTo>
                  <a:pt x="8640600" y="0"/>
                </a:lnTo>
                <a:lnTo>
                  <a:pt x="8640600" y="5843205"/>
                </a:lnTo>
                <a:lnTo>
                  <a:pt x="0" y="5843205"/>
                </a:lnTo>
                <a:lnTo>
                  <a:pt x="0" y="0"/>
                </a:lnTo>
                <a:close/>
              </a:path>
            </a:pathLst>
          </a:custGeom>
          <a:blipFill>
            <a:blip r:embed="rId2"/>
            <a:stretch>
              <a:fillRect l="0" t="0" r="0" b="0"/>
            </a:stretch>
          </a:blipFill>
        </p:spPr>
      </p:sp>
      <p:sp>
        <p:nvSpPr>
          <p:cNvPr name="TextBox 9" id="9"/>
          <p:cNvSpPr txBox="true"/>
          <p:nvPr/>
        </p:nvSpPr>
        <p:spPr>
          <a:xfrm rot="0">
            <a:off x="378010" y="4315553"/>
            <a:ext cx="8499682"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DATASET</a:t>
            </a:r>
          </a:p>
        </p:txBody>
      </p:sp>
      <p:sp>
        <p:nvSpPr>
          <p:cNvPr name="TextBox 10" id="10"/>
          <p:cNvSpPr txBox="true"/>
          <p:nvPr/>
        </p:nvSpPr>
        <p:spPr>
          <a:xfrm rot="0">
            <a:off x="7256027" y="694485"/>
            <a:ext cx="8499682" cy="1236345"/>
          </a:xfrm>
          <a:prstGeom prst="rect">
            <a:avLst/>
          </a:prstGeom>
        </p:spPr>
        <p:txBody>
          <a:bodyPr anchor="t" rtlCol="false" tIns="0" lIns="0" bIns="0" rIns="0">
            <a:spAutoFit/>
          </a:bodyPr>
          <a:lstStyle/>
          <a:p>
            <a:pPr algn="l" marL="0" indent="0" lvl="0">
              <a:lnSpc>
                <a:spcPts val="3360"/>
              </a:lnSpc>
            </a:pPr>
            <a:r>
              <a:rPr lang="en-US" sz="2100" spc="210">
                <a:solidFill>
                  <a:srgbClr val="000000"/>
                </a:solidFill>
                <a:latin typeface="Lato"/>
                <a:ea typeface="Lato"/>
                <a:cs typeface="Lato"/>
                <a:sym typeface="Lato"/>
              </a:rPr>
              <a:t>The Donate-a-Cry dataset consists of 457 recordings categorized into five emotion classes: belly pain, burping, discomfort, hunger, and tiredness.</a:t>
            </a:r>
          </a:p>
        </p:txBody>
      </p:sp>
      <p:sp>
        <p:nvSpPr>
          <p:cNvPr name="TextBox 11" id="11"/>
          <p:cNvSpPr txBox="true"/>
          <p:nvPr/>
        </p:nvSpPr>
        <p:spPr>
          <a:xfrm rot="0">
            <a:off x="7256027" y="2319725"/>
            <a:ext cx="4595932" cy="1243965"/>
          </a:xfrm>
          <a:prstGeom prst="rect">
            <a:avLst/>
          </a:prstGeom>
        </p:spPr>
        <p:txBody>
          <a:bodyPr anchor="t" rtlCol="false" tIns="0" lIns="0" bIns="0" rIns="0">
            <a:spAutoFit/>
          </a:bodyPr>
          <a:lstStyle/>
          <a:p>
            <a:pPr algn="l">
              <a:lnSpc>
                <a:spcPts val="3359"/>
              </a:lnSpc>
            </a:pPr>
            <a:r>
              <a:rPr lang="en-US" sz="2399" spc="239">
                <a:solidFill>
                  <a:srgbClr val="000000"/>
                </a:solidFill>
                <a:latin typeface="Lato"/>
                <a:ea typeface="Lato"/>
                <a:cs typeface="Lato"/>
                <a:sym typeface="Lato"/>
              </a:rPr>
              <a:t>Split  = 80/20</a:t>
            </a:r>
          </a:p>
          <a:p>
            <a:pPr algn="l">
              <a:lnSpc>
                <a:spcPts val="3359"/>
              </a:lnSpc>
              <a:spcBef>
                <a:spcPct val="0"/>
              </a:spcBef>
            </a:pPr>
            <a:r>
              <a:rPr lang="en-US" sz="2399" spc="239">
                <a:solidFill>
                  <a:srgbClr val="000000"/>
                </a:solidFill>
                <a:latin typeface="Lato"/>
                <a:ea typeface="Lato"/>
                <a:cs typeface="Lato"/>
                <a:sym typeface="Lato"/>
              </a:rPr>
              <a:t>✅ Train Set → 366 samples</a:t>
            </a:r>
          </a:p>
          <a:p>
            <a:pPr algn="l">
              <a:lnSpc>
                <a:spcPts val="3359"/>
              </a:lnSpc>
              <a:spcBef>
                <a:spcPct val="0"/>
              </a:spcBef>
            </a:pPr>
            <a:r>
              <a:rPr lang="en-US" sz="2399" spc="239">
                <a:solidFill>
                  <a:srgbClr val="000000"/>
                </a:solidFill>
                <a:latin typeface="Lato"/>
                <a:ea typeface="Lato"/>
                <a:cs typeface="Lato"/>
                <a:sym typeface="Lato"/>
              </a:rPr>
              <a:t>✅ Test Set → 91 samples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435887"/>
          <a:ext cx="16051226" cy="7859166"/>
        </p:xfrm>
        <a:graphic>
          <a:graphicData uri="http://schemas.openxmlformats.org/drawingml/2006/table">
            <a:tbl>
              <a:tblPr/>
              <a:tblGrid>
                <a:gridCol w="5350409"/>
                <a:gridCol w="5350409"/>
                <a:gridCol w="5350409"/>
              </a:tblGrid>
              <a:tr h="883376">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Paper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Key Takeaway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Research Gap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41995">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TabNet: Attentive Interpretable Tabular Learning</a:t>
                      </a:r>
                      <a:endParaRPr lang="en-US" sz="1100"/>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TabNet uses attention mechanisms for feature selection, balancing interpretability and performance while outperforming tree-based models on structured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41995">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Unveiling Hidden Factors: Explainable AI for Feature Boosting in Speech Emotion Recognition</a:t>
                      </a:r>
                      <a:endParaRPr lang="en-US" sz="1100"/>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Uses SHAP and LIME to interpret feature importance in emotion classification models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Not applied to Baby Cry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65661">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Infant Mood Prediction and Emotion Classification with Different Intelligent Models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Importance of MFCC features ,</a:t>
                      </a:r>
                      <a:endParaRPr lang="en-US" sz="1100"/>
                    </a:p>
                    <a:p>
                      <a:pPr algn="ctr">
                        <a:lnSpc>
                          <a:spcPts val="2520"/>
                        </a:lnSpc>
                      </a:pPr>
                      <a:r>
                        <a:rPr lang="en-US" sz="1800">
                          <a:solidFill>
                            <a:srgbClr val="000000"/>
                          </a:solidFill>
                          <a:latin typeface="Lato"/>
                          <a:ea typeface="Lato"/>
                          <a:cs typeface="Lato"/>
                          <a:sym typeface="Lato"/>
                        </a:rPr>
                        <a:t>Preprocessing (noise reduction) and use of Random forest to achive an accuracy of 91%</a:t>
                      </a:r>
                    </a:p>
                    <a:p>
                      <a:pPr algn="ctr">
                        <a:lnSpc>
                          <a:spcPts val="2520"/>
                        </a:lnSpc>
                      </a:pPr>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Does not taken into considersation of Class imblance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26139">
                <a:tc>
                  <a:txBody>
                    <a:bodyPr anchor="t" rtlCol="false"/>
                    <a:lstStyle/>
                    <a:p>
                      <a:pPr algn="ctr">
                        <a:lnSpc>
                          <a:spcPts val="2520"/>
                        </a:lnSpc>
                        <a:defRPr/>
                      </a:pPr>
                      <a:r>
                        <a:rPr lang="en-US" sz="1800">
                          <a:solidFill>
                            <a:srgbClr val="000000"/>
                          </a:solidFill>
                          <a:latin typeface="Lato"/>
                          <a:ea typeface="Lato"/>
                          <a:cs typeface="Lato"/>
                          <a:sym typeface="Lato"/>
                        </a:rPr>
                        <a:t>Classification of Infant Cry Based on Hybrid Audio Features and ResLSTM</a:t>
                      </a:r>
                      <a:endParaRPr lang="en-US" sz="1100"/>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Hybrid feature extraction of MFCC, Tonnetz AND MEL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Uses heavy weight deep learning models and no XAI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028700" y="98771"/>
            <a:ext cx="10885440" cy="1081336"/>
          </a:xfrm>
          <a:prstGeom prst="rect">
            <a:avLst/>
          </a:prstGeom>
        </p:spPr>
        <p:txBody>
          <a:bodyPr anchor="t" rtlCol="false" tIns="0" lIns="0" bIns="0" rIns="0">
            <a:spAutoFit/>
          </a:bodyPr>
          <a:lstStyle/>
          <a:p>
            <a:pPr algn="l" marL="0" indent="0" lvl="0">
              <a:lnSpc>
                <a:spcPts val="8446"/>
              </a:lnSpc>
            </a:pPr>
            <a:r>
              <a:rPr lang="en-US" b="true" sz="6032" spc="301">
                <a:solidFill>
                  <a:srgbClr val="000000"/>
                </a:solidFill>
                <a:latin typeface="Helios Extended Bold"/>
                <a:ea typeface="Helios Extended Bold"/>
                <a:cs typeface="Helios Extended Bold"/>
                <a:sym typeface="Helios Extended Bold"/>
              </a:rPr>
              <a:t>LITERATURE SURVEY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435887"/>
          <a:ext cx="16051226" cy="6730948"/>
        </p:xfrm>
        <a:graphic>
          <a:graphicData uri="http://schemas.openxmlformats.org/drawingml/2006/table">
            <a:tbl>
              <a:tblPr/>
              <a:tblGrid>
                <a:gridCol w="5350409"/>
                <a:gridCol w="5350409"/>
                <a:gridCol w="5350409"/>
              </a:tblGrid>
              <a:tr h="884098">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Paper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Key Takeaway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Research Gap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35602">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Infant cry classification using an efficient graph structure and attention-based mode</a:t>
                      </a:r>
                      <a:endParaRPr lang="en-US" sz="1100"/>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Proved that Attention based model can improve accuracy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Uses attention with CNN and LSTM, making the model less interpretable and heavily reliant on MFCC instead of better feature extraction.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59533">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Data Augmentation and Deep Learning Methods in Sound Classification: A Systematic Review"</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Data augmentation techniques, such as noise variation, signal intensity variation, tonality variation, and spectrogram’s size alteration, were used to artificially increase the number of audio signals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51716">
                <a:tc>
                  <a:txBody>
                    <a:bodyPr anchor="t" rtlCol="false"/>
                    <a:lstStyle/>
                    <a:p>
                      <a:pPr algn="ctr">
                        <a:lnSpc>
                          <a:spcPts val="2520"/>
                        </a:lnSpc>
                        <a:defRPr/>
                      </a:pPr>
                      <a:r>
                        <a:rPr lang="en-US" sz="1800" b="true">
                          <a:solidFill>
                            <a:srgbClr val="000000"/>
                          </a:solidFill>
                          <a:latin typeface="Lato Bold"/>
                          <a:ea typeface="Lato Bold"/>
                          <a:cs typeface="Lato Bold"/>
                          <a:sym typeface="Lato Bold"/>
                        </a:rPr>
                        <a:t>Dunstan_Baby_Language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Arimo"/>
                          <a:ea typeface="Arimo"/>
                          <a:cs typeface="Arimo"/>
                          <a:sym typeface="Arimo"/>
                        </a:rPr>
                        <a:t>“Neh” = hungry, “Eh” = need to burp, “Oah” = tired, “Eairh” = low belly pain, and “Heh” = physical discomfort.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ato"/>
                          <a:ea typeface="Lato"/>
                          <a:cs typeface="Lato"/>
                          <a:sym typeface="Lato"/>
                        </a:rPr>
                        <a:t>They havent employed any method to use this for 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028700" y="98771"/>
            <a:ext cx="10885440" cy="1081336"/>
          </a:xfrm>
          <a:prstGeom prst="rect">
            <a:avLst/>
          </a:prstGeom>
        </p:spPr>
        <p:txBody>
          <a:bodyPr anchor="t" rtlCol="false" tIns="0" lIns="0" bIns="0" rIns="0">
            <a:spAutoFit/>
          </a:bodyPr>
          <a:lstStyle/>
          <a:p>
            <a:pPr algn="l" marL="0" indent="0" lvl="0">
              <a:lnSpc>
                <a:spcPts val="8446"/>
              </a:lnSpc>
            </a:pPr>
            <a:r>
              <a:rPr lang="en-US" b="true" sz="6032" spc="301">
                <a:solidFill>
                  <a:srgbClr val="000000"/>
                </a:solidFill>
                <a:latin typeface="Helios Extended Bold"/>
                <a:ea typeface="Helios Extended Bold"/>
                <a:cs typeface="Helios Extended Bold"/>
                <a:sym typeface="Helios Extended Bold"/>
              </a:rPr>
              <a:t>LITERATURE SURVEY</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01081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4797475" y="51435"/>
            <a:ext cx="8693050"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NOVELTY</a:t>
            </a:r>
          </a:p>
        </p:txBody>
      </p:sp>
      <p:sp>
        <p:nvSpPr>
          <p:cNvPr name="TextBox 6" id="6"/>
          <p:cNvSpPr txBox="true"/>
          <p:nvPr/>
        </p:nvSpPr>
        <p:spPr>
          <a:xfrm rot="0">
            <a:off x="399771" y="832923"/>
            <a:ext cx="17488457" cy="9206865"/>
          </a:xfrm>
          <a:prstGeom prst="rect">
            <a:avLst/>
          </a:prstGeom>
        </p:spPr>
        <p:txBody>
          <a:bodyPr anchor="t" rtlCol="false" tIns="0" lIns="0" bIns="0" rIns="0">
            <a:spAutoFit/>
          </a:bodyPr>
          <a:lstStyle/>
          <a:p>
            <a:pPr algn="l">
              <a:lnSpc>
                <a:spcPts val="3359"/>
              </a:lnSpc>
              <a:spcBef>
                <a:spcPct val="0"/>
              </a:spcBef>
            </a:pPr>
            <a:r>
              <a:rPr lang="en-US" b="true" sz="2399" spc="239">
                <a:solidFill>
                  <a:srgbClr val="000000"/>
                </a:solidFill>
                <a:latin typeface="Lato Bold"/>
                <a:ea typeface="Lato Bold"/>
                <a:cs typeface="Lato Bold"/>
                <a:sym typeface="Lato Bold"/>
              </a:rPr>
              <a:t>Single C</a:t>
            </a:r>
            <a:r>
              <a:rPr lang="en-US" b="true" sz="2399" spc="239">
                <a:solidFill>
                  <a:srgbClr val="000000"/>
                </a:solidFill>
                <a:latin typeface="Lato Bold"/>
                <a:ea typeface="Lato Bold"/>
                <a:cs typeface="Lato Bold"/>
                <a:sym typeface="Lato Bold"/>
              </a:rPr>
              <a:t>orpus Utilization:</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Leverages only the DonateACry corpus, ensuring consistency in data quality and real-world relevance.</a:t>
            </a:r>
          </a:p>
          <a:p>
            <a:pPr algn="l">
              <a:lnSpc>
                <a:spcPts val="3359"/>
              </a:lnSpc>
              <a:spcBef>
                <a:spcPct val="0"/>
              </a:spcBef>
            </a:pPr>
          </a:p>
          <a:p>
            <a:pPr algn="l">
              <a:lnSpc>
                <a:spcPts val="3359"/>
              </a:lnSpc>
              <a:spcBef>
                <a:spcPct val="0"/>
              </a:spcBef>
            </a:pPr>
            <a:r>
              <a:rPr lang="en-US" b="true" sz="2399" spc="239">
                <a:solidFill>
                  <a:srgbClr val="000000"/>
                </a:solidFill>
                <a:latin typeface="Lato Bold"/>
                <a:ea typeface="Lato Bold"/>
                <a:cs typeface="Lato Bold"/>
                <a:sym typeface="Lato Bold"/>
              </a:rPr>
              <a:t>Efficient and Interpretable Model:</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Uses a classical Random Forest model, achieving 98.76% accuracy with significantly lower computational cost compared to deep learning alternatives.</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Provides clear feature importance, enhancing model transparency and interpretability.</a:t>
            </a:r>
          </a:p>
          <a:p>
            <a:pPr algn="l">
              <a:lnSpc>
                <a:spcPts val="3359"/>
              </a:lnSpc>
              <a:spcBef>
                <a:spcPct val="0"/>
              </a:spcBef>
            </a:pPr>
          </a:p>
          <a:p>
            <a:pPr algn="l">
              <a:lnSpc>
                <a:spcPts val="3359"/>
              </a:lnSpc>
              <a:spcBef>
                <a:spcPct val="0"/>
              </a:spcBef>
            </a:pPr>
            <a:r>
              <a:rPr lang="en-US" b="true" sz="2399" spc="239">
                <a:solidFill>
                  <a:srgbClr val="000000"/>
                </a:solidFill>
                <a:latin typeface="Lato Bold"/>
                <a:ea typeface="Lato Bold"/>
                <a:cs typeface="Lato Bold"/>
                <a:sym typeface="Lato Bold"/>
              </a:rPr>
              <a:t>Robust Feature Engineering:</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Extracts 461 handcrafted features capturing diverse acoustic cues (MFCCs, spectral, temporal features) to fully characterize infant cries.</a:t>
            </a:r>
          </a:p>
          <a:p>
            <a:pPr algn="l">
              <a:lnSpc>
                <a:spcPts val="3359"/>
              </a:lnSpc>
              <a:spcBef>
                <a:spcPct val="0"/>
              </a:spcBef>
            </a:pPr>
          </a:p>
          <a:p>
            <a:pPr algn="l">
              <a:lnSpc>
                <a:spcPts val="3359"/>
              </a:lnSpc>
              <a:spcBef>
                <a:spcPct val="0"/>
              </a:spcBef>
            </a:pPr>
            <a:r>
              <a:rPr lang="en-US" b="true" sz="2399" spc="239">
                <a:solidFill>
                  <a:srgbClr val="000000"/>
                </a:solidFill>
                <a:latin typeface="Lato Bold"/>
                <a:ea typeface="Lato Bold"/>
                <a:cs typeface="Lato Bold"/>
                <a:sym typeface="Lato Bold"/>
              </a:rPr>
              <a:t>Hybrid Balancing Strategy:</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Combines domain-specific data augmentation (e.g., pitch shifting, time stretching, noise addition) with SMOTE to achieve uniform class distribution.</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This dual approach improves data diversity and minimizes class imbalance, leading to better generalization.</a:t>
            </a:r>
          </a:p>
          <a:p>
            <a:pPr algn="l">
              <a:lnSpc>
                <a:spcPts val="3359"/>
              </a:lnSpc>
              <a:spcBef>
                <a:spcPct val="0"/>
              </a:spcBef>
            </a:pPr>
          </a:p>
          <a:p>
            <a:pPr algn="l">
              <a:lnSpc>
                <a:spcPts val="3359"/>
              </a:lnSpc>
              <a:spcBef>
                <a:spcPct val="0"/>
              </a:spcBef>
            </a:pPr>
            <a:r>
              <a:rPr lang="en-US" b="true" sz="2399" spc="239">
                <a:solidFill>
                  <a:srgbClr val="000000"/>
                </a:solidFill>
                <a:latin typeface="Lato Bold"/>
                <a:ea typeface="Lato Bold"/>
                <a:cs typeface="Lato Bold"/>
                <a:sym typeface="Lato Bold"/>
              </a:rPr>
              <a:t>Real-Time Deployment Potential:</a:t>
            </a:r>
          </a:p>
          <a:p>
            <a:pPr algn="l" marL="518158" indent="-259079" lvl="1">
              <a:lnSpc>
                <a:spcPts val="3359"/>
              </a:lnSpc>
              <a:spcBef>
                <a:spcPct val="0"/>
              </a:spcBef>
              <a:buFont typeface="Arial"/>
              <a:buChar char="•"/>
            </a:pPr>
            <a:r>
              <a:rPr lang="en-US" sz="2399" spc="239">
                <a:solidFill>
                  <a:srgbClr val="000000"/>
                </a:solidFill>
                <a:latin typeface="Lato"/>
                <a:ea typeface="Lato"/>
                <a:cs typeface="Lato"/>
                <a:sym typeface="Lato"/>
              </a:rPr>
              <a:t>The efficiency and low inference cost make the model ideal for edge-device deployment in real-world caregiving scenarios.</a:t>
            </a:r>
          </a:p>
          <a:p>
            <a:pPr algn="l">
              <a:lnSpc>
                <a:spcPts val="33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61666" y="3398868"/>
            <a:ext cx="17883964" cy="5521674"/>
          </a:xfrm>
          <a:custGeom>
            <a:avLst/>
            <a:gdLst/>
            <a:ahLst/>
            <a:cxnLst/>
            <a:rect r="r" b="b" t="t" l="l"/>
            <a:pathLst>
              <a:path h="5521674" w="17883964">
                <a:moveTo>
                  <a:pt x="0" y="0"/>
                </a:moveTo>
                <a:lnTo>
                  <a:pt x="17883963" y="0"/>
                </a:lnTo>
                <a:lnTo>
                  <a:pt x="17883963" y="5521674"/>
                </a:lnTo>
                <a:lnTo>
                  <a:pt x="0" y="5521674"/>
                </a:lnTo>
                <a:lnTo>
                  <a:pt x="0" y="0"/>
                </a:lnTo>
                <a:close/>
              </a:path>
            </a:pathLst>
          </a:custGeom>
          <a:blipFill>
            <a:blip r:embed="rId2"/>
            <a:stretch>
              <a:fillRect l="0" t="0" r="0" b="0"/>
            </a:stretch>
          </a:blipFill>
        </p:spPr>
      </p:sp>
      <p:sp>
        <p:nvSpPr>
          <p:cNvPr name="TextBox 6" id="6"/>
          <p:cNvSpPr txBox="true"/>
          <p:nvPr/>
        </p:nvSpPr>
        <p:spPr>
          <a:xfrm rot="0">
            <a:off x="831776" y="866775"/>
            <a:ext cx="13370771"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OVERALL  ARCHITECTURE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328983" y="3104669"/>
            <a:ext cx="17630034" cy="4936410"/>
          </a:xfrm>
          <a:custGeom>
            <a:avLst/>
            <a:gdLst/>
            <a:ahLst/>
            <a:cxnLst/>
            <a:rect r="r" b="b" t="t" l="l"/>
            <a:pathLst>
              <a:path h="4936410" w="17630034">
                <a:moveTo>
                  <a:pt x="0" y="0"/>
                </a:moveTo>
                <a:lnTo>
                  <a:pt x="17630034" y="0"/>
                </a:lnTo>
                <a:lnTo>
                  <a:pt x="17630034" y="4936409"/>
                </a:lnTo>
                <a:lnTo>
                  <a:pt x="0" y="4936409"/>
                </a:lnTo>
                <a:lnTo>
                  <a:pt x="0" y="0"/>
                </a:lnTo>
                <a:close/>
              </a:path>
            </a:pathLst>
          </a:custGeom>
          <a:blipFill>
            <a:blip r:embed="rId2"/>
            <a:stretch>
              <a:fillRect l="0" t="0" r="0" b="0"/>
            </a:stretch>
          </a:blipFill>
        </p:spPr>
      </p:sp>
      <p:sp>
        <p:nvSpPr>
          <p:cNvPr name="TextBox 6" id="6"/>
          <p:cNvSpPr txBox="true"/>
          <p:nvPr/>
        </p:nvSpPr>
        <p:spPr>
          <a:xfrm rot="0">
            <a:off x="831776" y="866775"/>
            <a:ext cx="13370771"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OVERALL  ARCHITECTURE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660279"/>
            <a:ext cx="8107247" cy="4002953"/>
          </a:xfrm>
          <a:custGeom>
            <a:avLst/>
            <a:gdLst/>
            <a:ahLst/>
            <a:cxnLst/>
            <a:rect r="r" b="b" t="t" l="l"/>
            <a:pathLst>
              <a:path h="4002953" w="8107247">
                <a:moveTo>
                  <a:pt x="0" y="0"/>
                </a:moveTo>
                <a:lnTo>
                  <a:pt x="8107247" y="0"/>
                </a:lnTo>
                <a:lnTo>
                  <a:pt x="8107247" y="4002953"/>
                </a:lnTo>
                <a:lnTo>
                  <a:pt x="0" y="4002953"/>
                </a:lnTo>
                <a:lnTo>
                  <a:pt x="0" y="0"/>
                </a:lnTo>
                <a:close/>
              </a:path>
            </a:pathLst>
          </a:custGeom>
          <a:blipFill>
            <a:blip r:embed="rId2"/>
            <a:stretch>
              <a:fillRect l="0" t="0" r="0" b="0"/>
            </a:stretch>
          </a:blipFill>
        </p:spPr>
      </p:sp>
      <p:sp>
        <p:nvSpPr>
          <p:cNvPr name="TextBox 3" id="3"/>
          <p:cNvSpPr txBox="true"/>
          <p:nvPr/>
        </p:nvSpPr>
        <p:spPr>
          <a:xfrm rot="0">
            <a:off x="0" y="714611"/>
            <a:ext cx="8445984"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PREPROCESING</a:t>
            </a:r>
          </a:p>
        </p:txBody>
      </p:sp>
      <p:sp>
        <p:nvSpPr>
          <p:cNvPr name="TextBox 4" id="4"/>
          <p:cNvSpPr txBox="true"/>
          <p:nvPr/>
        </p:nvSpPr>
        <p:spPr>
          <a:xfrm rot="0">
            <a:off x="8032776" y="523837"/>
            <a:ext cx="10106283" cy="9342171"/>
          </a:xfrm>
          <a:prstGeom prst="rect">
            <a:avLst/>
          </a:prstGeom>
        </p:spPr>
        <p:txBody>
          <a:bodyPr anchor="t" rtlCol="false" tIns="0" lIns="0" bIns="0" rIns="0">
            <a:spAutoFit/>
          </a:bodyPr>
          <a:lstStyle/>
          <a:p>
            <a:pPr algn="l" marL="608852" indent="-304426" lvl="1">
              <a:lnSpc>
                <a:spcPts val="3948"/>
              </a:lnSpc>
              <a:buFont typeface="Arial"/>
              <a:buChar char="•"/>
            </a:pPr>
            <a:r>
              <a:rPr lang="en-US" sz="2820" spc="282">
                <a:solidFill>
                  <a:srgbClr val="000000"/>
                </a:solidFill>
                <a:latin typeface="Lato"/>
                <a:ea typeface="Lato"/>
                <a:cs typeface="Lato"/>
                <a:sym typeface="Lato"/>
              </a:rPr>
              <a:t>Infant cry sounds are recorded using different mobile devices, leading to variations in quality and noise levels.</a:t>
            </a:r>
          </a:p>
          <a:p>
            <a:pPr algn="l">
              <a:lnSpc>
                <a:spcPts val="3948"/>
              </a:lnSpc>
            </a:pPr>
          </a:p>
          <a:p>
            <a:pPr algn="l" marL="608852" indent="-304426" lvl="1">
              <a:lnSpc>
                <a:spcPts val="3948"/>
              </a:lnSpc>
              <a:buFont typeface="Arial"/>
              <a:buChar char="•"/>
            </a:pPr>
            <a:r>
              <a:rPr lang="en-US" sz="2820" spc="282">
                <a:solidFill>
                  <a:srgbClr val="000000"/>
                </a:solidFill>
                <a:latin typeface="Lato"/>
                <a:ea typeface="Lato"/>
                <a:cs typeface="Lato"/>
                <a:sym typeface="Lato"/>
              </a:rPr>
              <a:t>Background noise, such as people talking and environmental sounds, corrupts the signals, making preprocessing essential.</a:t>
            </a:r>
          </a:p>
          <a:p>
            <a:pPr algn="l">
              <a:lnSpc>
                <a:spcPts val="3948"/>
              </a:lnSpc>
            </a:pPr>
          </a:p>
          <a:p>
            <a:pPr algn="l" marL="608852" indent="-304426" lvl="1">
              <a:lnSpc>
                <a:spcPts val="3948"/>
              </a:lnSpc>
              <a:buFont typeface="Arial"/>
              <a:buChar char="•"/>
            </a:pPr>
            <a:r>
              <a:rPr lang="en-US" sz="2820" spc="282">
                <a:solidFill>
                  <a:srgbClr val="000000"/>
                </a:solidFill>
                <a:latin typeface="Lato"/>
                <a:ea typeface="Lato"/>
                <a:cs typeface="Lato"/>
                <a:sym typeface="Lato"/>
              </a:rPr>
              <a:t>Fourier Transform (FFT) is applied to convert the audio from the time domain to the frequency domain for better analysis.</a:t>
            </a:r>
          </a:p>
          <a:p>
            <a:pPr algn="l">
              <a:lnSpc>
                <a:spcPts val="3948"/>
              </a:lnSpc>
            </a:pPr>
          </a:p>
          <a:p>
            <a:pPr algn="l" marL="608852" indent="-304426" lvl="1">
              <a:lnSpc>
                <a:spcPts val="3948"/>
              </a:lnSpc>
              <a:buFont typeface="Arial"/>
              <a:buChar char="•"/>
            </a:pPr>
            <a:r>
              <a:rPr lang="en-US" sz="2820" spc="282">
                <a:solidFill>
                  <a:srgbClr val="000000"/>
                </a:solidFill>
                <a:latin typeface="Lato"/>
                <a:ea typeface="Lato"/>
                <a:cs typeface="Lato"/>
                <a:sym typeface="Lato"/>
              </a:rPr>
              <a:t>Analysis of 50 random baby cry samples revealed that most infant cries fall between 142.91 Hz – 6620.12 Hz.</a:t>
            </a:r>
          </a:p>
          <a:p>
            <a:pPr algn="l">
              <a:lnSpc>
                <a:spcPts val="3948"/>
              </a:lnSpc>
            </a:pPr>
          </a:p>
          <a:p>
            <a:pPr algn="l" marL="608852" indent="-304426" lvl="1">
              <a:lnSpc>
                <a:spcPts val="3948"/>
              </a:lnSpc>
              <a:buFont typeface="Arial"/>
              <a:buChar char="•"/>
            </a:pPr>
            <a:r>
              <a:rPr lang="en-US" sz="2820" spc="282">
                <a:solidFill>
                  <a:srgbClr val="000000"/>
                </a:solidFill>
                <a:latin typeface="Lato"/>
                <a:ea typeface="Lato"/>
                <a:cs typeface="Lato"/>
                <a:sym typeface="Lato"/>
              </a:rPr>
              <a:t>A Bandpass Filter is applied to allow only frequencies within this range, removing unwanted noise.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357285" y="6451606"/>
            <a:ext cx="11437811" cy="2930939"/>
          </a:xfrm>
          <a:custGeom>
            <a:avLst/>
            <a:gdLst/>
            <a:ahLst/>
            <a:cxnLst/>
            <a:rect r="r" b="b" t="t" l="l"/>
            <a:pathLst>
              <a:path h="2930939" w="11437811">
                <a:moveTo>
                  <a:pt x="0" y="0"/>
                </a:moveTo>
                <a:lnTo>
                  <a:pt x="11437811" y="0"/>
                </a:lnTo>
                <a:lnTo>
                  <a:pt x="11437811" y="2930939"/>
                </a:lnTo>
                <a:lnTo>
                  <a:pt x="0" y="2930939"/>
                </a:lnTo>
                <a:lnTo>
                  <a:pt x="0" y="0"/>
                </a:lnTo>
                <a:close/>
              </a:path>
            </a:pathLst>
          </a:custGeom>
          <a:blipFill>
            <a:blip r:embed="rId2"/>
            <a:stretch>
              <a:fillRect l="0" t="0" r="0" b="0"/>
            </a:stretch>
          </a:blipFill>
        </p:spPr>
      </p:sp>
      <p:sp>
        <p:nvSpPr>
          <p:cNvPr name="TextBox 9" id="9"/>
          <p:cNvSpPr txBox="true"/>
          <p:nvPr/>
        </p:nvSpPr>
        <p:spPr>
          <a:xfrm rot="0">
            <a:off x="1511463" y="285330"/>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DATA AUGUMENTATION </a:t>
            </a:r>
          </a:p>
        </p:txBody>
      </p:sp>
      <p:sp>
        <p:nvSpPr>
          <p:cNvPr name="TextBox 10" id="10"/>
          <p:cNvSpPr txBox="true"/>
          <p:nvPr/>
        </p:nvSpPr>
        <p:spPr>
          <a:xfrm rot="0">
            <a:off x="718088" y="1731863"/>
            <a:ext cx="17383997" cy="4177665"/>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spc="239">
                <a:solidFill>
                  <a:srgbClr val="000000"/>
                </a:solidFill>
                <a:latin typeface="Lato Bold"/>
                <a:ea typeface="Lato Bold"/>
                <a:cs typeface="Lato Bold"/>
                <a:sym typeface="Lato Bold"/>
              </a:rPr>
              <a:t>Time Stretching: </a:t>
            </a:r>
            <a:r>
              <a:rPr lang="en-US" sz="2399" spc="239">
                <a:solidFill>
                  <a:srgbClr val="000000"/>
                </a:solidFill>
                <a:latin typeface="Lato"/>
                <a:ea typeface="Lato"/>
                <a:cs typeface="Lato"/>
                <a:sym typeface="Lato"/>
              </a:rPr>
              <a:t>Speeds up or slows down the cry without altering pitch — introduces natural variability in rhythm.</a:t>
            </a:r>
          </a:p>
          <a:p>
            <a:pPr algn="l">
              <a:lnSpc>
                <a:spcPts val="3359"/>
              </a:lnSpc>
            </a:pPr>
          </a:p>
          <a:p>
            <a:pPr algn="l" marL="518158" indent="-259079" lvl="1">
              <a:lnSpc>
                <a:spcPts val="3359"/>
              </a:lnSpc>
              <a:buFont typeface="Arial"/>
              <a:buChar char="•"/>
            </a:pPr>
            <a:r>
              <a:rPr lang="en-US" b="true" sz="2399" spc="239">
                <a:solidFill>
                  <a:srgbClr val="000000"/>
                </a:solidFill>
                <a:latin typeface="Lato Bold"/>
                <a:ea typeface="Lato Bold"/>
                <a:cs typeface="Lato Bold"/>
                <a:sym typeface="Lato Bold"/>
              </a:rPr>
              <a:t>Pitch Shifting:</a:t>
            </a:r>
            <a:r>
              <a:rPr lang="en-US" sz="2399" spc="239">
                <a:solidFill>
                  <a:srgbClr val="000000"/>
                </a:solidFill>
                <a:latin typeface="Lato"/>
                <a:ea typeface="Lato"/>
                <a:cs typeface="Lato"/>
                <a:sym typeface="Lato"/>
              </a:rPr>
              <a:t> Alters the tone slightly — mimics cries from different babies or emotional tones.</a:t>
            </a:r>
          </a:p>
          <a:p>
            <a:pPr algn="l">
              <a:lnSpc>
                <a:spcPts val="3359"/>
              </a:lnSpc>
            </a:pPr>
          </a:p>
          <a:p>
            <a:pPr algn="l" marL="518158" indent="-259079" lvl="1">
              <a:lnSpc>
                <a:spcPts val="3359"/>
              </a:lnSpc>
              <a:buFont typeface="Arial"/>
              <a:buChar char="•"/>
            </a:pPr>
            <a:r>
              <a:rPr lang="en-US" b="true" sz="2399" spc="239">
                <a:solidFill>
                  <a:srgbClr val="000000"/>
                </a:solidFill>
                <a:latin typeface="Lato Bold"/>
                <a:ea typeface="Lato Bold"/>
                <a:cs typeface="Lato Bold"/>
                <a:sym typeface="Lato Bold"/>
              </a:rPr>
              <a:t>Noise Addition:</a:t>
            </a:r>
            <a:r>
              <a:rPr lang="en-US" sz="2399" spc="239">
                <a:solidFill>
                  <a:srgbClr val="000000"/>
                </a:solidFill>
                <a:latin typeface="Lato"/>
                <a:ea typeface="Lato"/>
                <a:cs typeface="Lato"/>
                <a:sym typeface="Lato"/>
              </a:rPr>
              <a:t> Adds background sounds — makes model more resilient to real-world noise.</a:t>
            </a:r>
          </a:p>
          <a:p>
            <a:pPr algn="l">
              <a:lnSpc>
                <a:spcPts val="3359"/>
              </a:lnSpc>
            </a:pPr>
          </a:p>
          <a:p>
            <a:pPr algn="l" marL="518158" indent="-259079" lvl="1">
              <a:lnSpc>
                <a:spcPts val="3359"/>
              </a:lnSpc>
              <a:buFont typeface="Arial"/>
              <a:buChar char="•"/>
            </a:pPr>
            <a:r>
              <a:rPr lang="en-US" b="true" sz="2399" spc="239">
                <a:solidFill>
                  <a:srgbClr val="000000"/>
                </a:solidFill>
                <a:latin typeface="Lato Bold"/>
                <a:ea typeface="Lato Bold"/>
                <a:cs typeface="Lato Bold"/>
                <a:sym typeface="Lato Bold"/>
              </a:rPr>
              <a:t>Gain Adjustment: </a:t>
            </a:r>
            <a:r>
              <a:rPr lang="en-US" sz="2399" spc="239">
                <a:solidFill>
                  <a:srgbClr val="000000"/>
                </a:solidFill>
                <a:latin typeface="Lato"/>
                <a:ea typeface="Lato"/>
                <a:cs typeface="Lato"/>
                <a:sym typeface="Lato"/>
              </a:rPr>
              <a:t>Changes volume — simulates cries of varying intensity.</a:t>
            </a:r>
          </a:p>
          <a:p>
            <a:pPr algn="l">
              <a:lnSpc>
                <a:spcPts val="3359"/>
              </a:lnSpc>
            </a:pPr>
          </a:p>
          <a:p>
            <a:pPr algn="l" marL="518158" indent="-259079" lvl="1">
              <a:lnSpc>
                <a:spcPts val="3359"/>
              </a:lnSpc>
              <a:buFont typeface="Arial"/>
              <a:buChar char="•"/>
            </a:pPr>
            <a:r>
              <a:rPr lang="en-US" b="true" sz="2399" spc="239">
                <a:solidFill>
                  <a:srgbClr val="000000"/>
                </a:solidFill>
                <a:latin typeface="Lato Bold"/>
                <a:ea typeface="Lato Bold"/>
                <a:cs typeface="Lato Bold"/>
                <a:sym typeface="Lato Bold"/>
              </a:rPr>
              <a:t>Shifting: </a:t>
            </a:r>
            <a:r>
              <a:rPr lang="en-US" sz="2399" spc="239">
                <a:solidFill>
                  <a:srgbClr val="000000"/>
                </a:solidFill>
                <a:latin typeface="Lato"/>
                <a:ea typeface="Lato"/>
                <a:cs typeface="Lato"/>
                <a:sym typeface="Lato"/>
              </a:rPr>
              <a:t>Moves the audio signal left/right in time — creates positional variance in the cry onset.</a:t>
            </a:r>
          </a:p>
        </p:txBody>
      </p:sp>
      <p:sp>
        <p:nvSpPr>
          <p:cNvPr name="TextBox 11" id="11"/>
          <p:cNvSpPr txBox="true"/>
          <p:nvPr/>
        </p:nvSpPr>
        <p:spPr>
          <a:xfrm rot="0">
            <a:off x="12186565" y="7004997"/>
            <a:ext cx="5321225" cy="1243965"/>
          </a:xfrm>
          <a:prstGeom prst="rect">
            <a:avLst/>
          </a:prstGeom>
        </p:spPr>
        <p:txBody>
          <a:bodyPr anchor="t" rtlCol="false" tIns="0" lIns="0" bIns="0" rIns="0">
            <a:spAutoFit/>
          </a:bodyPr>
          <a:lstStyle/>
          <a:p>
            <a:pPr algn="l">
              <a:lnSpc>
                <a:spcPts val="3359"/>
              </a:lnSpc>
              <a:spcBef>
                <a:spcPct val="0"/>
              </a:spcBef>
            </a:pPr>
            <a:r>
              <a:rPr lang="en-US" sz="2399" spc="239">
                <a:solidFill>
                  <a:srgbClr val="000000"/>
                </a:solidFill>
                <a:latin typeface="Lato"/>
                <a:ea typeface="Lato"/>
                <a:cs typeface="Lato"/>
                <a:sym typeface="Lato"/>
              </a:rPr>
              <a:t>Increased training samples from original data to </a:t>
            </a:r>
            <a:r>
              <a:rPr lang="en-US" b="true" sz="2399" spc="239">
                <a:solidFill>
                  <a:srgbClr val="000000"/>
                </a:solidFill>
                <a:latin typeface="Lato Bold"/>
                <a:ea typeface="Lato Bold"/>
                <a:cs typeface="Lato Bold"/>
                <a:sym typeface="Lato Bold"/>
              </a:rPr>
              <a:t>1,207 </a:t>
            </a:r>
            <a:r>
              <a:rPr lang="en-US" sz="2399" spc="239">
                <a:solidFill>
                  <a:srgbClr val="000000"/>
                </a:solidFill>
                <a:latin typeface="Lato"/>
                <a:ea typeface="Lato"/>
                <a:cs typeface="Lato"/>
                <a:sym typeface="Lato"/>
              </a:rPr>
              <a:t>samples after augmentation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3251322" y="3225581"/>
            <a:ext cx="11301259" cy="5608250"/>
          </a:xfrm>
          <a:custGeom>
            <a:avLst/>
            <a:gdLst/>
            <a:ahLst/>
            <a:cxnLst/>
            <a:rect r="r" b="b" t="t" l="l"/>
            <a:pathLst>
              <a:path h="5608250" w="11301259">
                <a:moveTo>
                  <a:pt x="0" y="0"/>
                </a:moveTo>
                <a:lnTo>
                  <a:pt x="11301259" y="0"/>
                </a:lnTo>
                <a:lnTo>
                  <a:pt x="11301259" y="5608249"/>
                </a:lnTo>
                <a:lnTo>
                  <a:pt x="0" y="5608249"/>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DATA AUGUMENTATION </a:t>
            </a:r>
          </a:p>
        </p:txBody>
      </p:sp>
      <p:sp>
        <p:nvSpPr>
          <p:cNvPr name="TextBox 10" id="10"/>
          <p:cNvSpPr txBox="true"/>
          <p:nvPr/>
        </p:nvSpPr>
        <p:spPr>
          <a:xfrm rot="0">
            <a:off x="589137" y="1690984"/>
            <a:ext cx="17414018" cy="1344023"/>
          </a:xfrm>
          <a:prstGeom prst="rect">
            <a:avLst/>
          </a:prstGeom>
        </p:spPr>
        <p:txBody>
          <a:bodyPr anchor="t" rtlCol="false" tIns="0" lIns="0" bIns="0" rIns="0">
            <a:spAutoFit/>
          </a:bodyPr>
          <a:lstStyle/>
          <a:p>
            <a:pPr algn="l">
              <a:lnSpc>
                <a:spcPts val="3614"/>
              </a:lnSpc>
            </a:pPr>
            <a:r>
              <a:rPr lang="en-US" sz="2581" spc="258" b="true">
                <a:solidFill>
                  <a:srgbClr val="000000"/>
                </a:solidFill>
                <a:latin typeface="Lato Bold"/>
                <a:ea typeface="Lato Bold"/>
                <a:cs typeface="Lato Bold"/>
                <a:sym typeface="Lato Bold"/>
              </a:rPr>
              <a:t>Us</a:t>
            </a:r>
            <a:r>
              <a:rPr lang="en-US" b="true" sz="2581" spc="258">
                <a:solidFill>
                  <a:srgbClr val="000000"/>
                </a:solidFill>
                <a:latin typeface="Lato Bold"/>
                <a:ea typeface="Lato Bold"/>
                <a:cs typeface="Lato Bold"/>
                <a:sym typeface="Lato Bold"/>
              </a:rPr>
              <a:t>ed in Combination with SMOTE:</a:t>
            </a:r>
          </a:p>
          <a:p>
            <a:pPr algn="l" marL="557370" indent="-278685" lvl="1">
              <a:lnSpc>
                <a:spcPts val="3614"/>
              </a:lnSpc>
              <a:buFont typeface="Arial"/>
              <a:buChar char="•"/>
            </a:pPr>
            <a:r>
              <a:rPr lang="en-US" sz="2581" spc="258">
                <a:solidFill>
                  <a:srgbClr val="000000"/>
                </a:solidFill>
                <a:latin typeface="Lato"/>
                <a:ea typeface="Lato"/>
                <a:cs typeface="Lato"/>
                <a:sym typeface="Lato"/>
              </a:rPr>
              <a:t>Augmentation creates new realistic samples, while SMOTE fills remaining gaps synthetically, leading to a well-balanced and expressive dataset</a:t>
            </a:r>
          </a:p>
        </p:txBody>
      </p:sp>
      <p:sp>
        <p:nvSpPr>
          <p:cNvPr name="TextBox 11" id="11"/>
          <p:cNvSpPr txBox="true"/>
          <p:nvPr/>
        </p:nvSpPr>
        <p:spPr>
          <a:xfrm rot="0">
            <a:off x="3864692" y="8976780"/>
            <a:ext cx="10687889" cy="405765"/>
          </a:xfrm>
          <a:prstGeom prst="rect">
            <a:avLst/>
          </a:prstGeom>
        </p:spPr>
        <p:txBody>
          <a:bodyPr anchor="t" rtlCol="false" tIns="0" lIns="0" bIns="0" rIns="0">
            <a:spAutoFit/>
          </a:bodyPr>
          <a:lstStyle/>
          <a:p>
            <a:pPr algn="l">
              <a:lnSpc>
                <a:spcPts val="3359"/>
              </a:lnSpc>
              <a:spcBef>
                <a:spcPct val="0"/>
              </a:spcBef>
            </a:pPr>
            <a:r>
              <a:rPr lang="en-US" sz="2399" spc="239">
                <a:solidFill>
                  <a:srgbClr val="000000"/>
                </a:solidFill>
                <a:latin typeface="Lato"/>
                <a:ea typeface="Lato"/>
                <a:cs typeface="Lato"/>
                <a:sym typeface="Lato"/>
              </a:rPr>
              <a:t>Increased training samples from </a:t>
            </a:r>
            <a:r>
              <a:rPr lang="en-US" b="true" sz="2399" spc="239">
                <a:solidFill>
                  <a:srgbClr val="000000"/>
                </a:solidFill>
                <a:latin typeface="Lato Bold"/>
                <a:ea typeface="Lato Bold"/>
                <a:cs typeface="Lato Bold"/>
                <a:sym typeface="Lato Bold"/>
              </a:rPr>
              <a:t> 966 </a:t>
            </a:r>
            <a:r>
              <a:rPr lang="en-US" sz="2399" spc="239">
                <a:solidFill>
                  <a:srgbClr val="000000"/>
                </a:solidFill>
                <a:latin typeface="Lato"/>
                <a:ea typeface="Lato"/>
                <a:cs typeface="Lato"/>
                <a:sym typeface="Lato"/>
              </a:rPr>
              <a:t>samples TO </a:t>
            </a:r>
            <a:r>
              <a:rPr lang="en-US" b="true" sz="2399" spc="239">
                <a:solidFill>
                  <a:srgbClr val="000000"/>
                </a:solidFill>
                <a:latin typeface="Lato Bold"/>
                <a:ea typeface="Lato Bold"/>
                <a:cs typeface="Lato Bold"/>
                <a:sym typeface="Lato Bold"/>
              </a:rPr>
              <a:t>1525</a:t>
            </a:r>
            <a:r>
              <a:rPr lang="en-US" sz="2399" spc="239">
                <a:solidFill>
                  <a:srgbClr val="000000"/>
                </a:solidFill>
                <a:latin typeface="Lato"/>
                <a:ea typeface="Lato"/>
                <a:cs typeface="Lato"/>
                <a:sym typeface="Lato"/>
              </a:rPr>
              <a:t> samples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3057124" y="1752229"/>
            <a:ext cx="13029249" cy="6547198"/>
          </a:xfrm>
          <a:custGeom>
            <a:avLst/>
            <a:gdLst/>
            <a:ahLst/>
            <a:cxnLst/>
            <a:rect r="r" b="b" t="t" l="l"/>
            <a:pathLst>
              <a:path h="6547198" w="13029249">
                <a:moveTo>
                  <a:pt x="0" y="0"/>
                </a:moveTo>
                <a:lnTo>
                  <a:pt x="13029249" y="0"/>
                </a:lnTo>
                <a:lnTo>
                  <a:pt x="13029249" y="6547197"/>
                </a:lnTo>
                <a:lnTo>
                  <a:pt x="0" y="6547197"/>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FEATURES EXTRACTED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3950460" y="1802037"/>
            <a:ext cx="9754137" cy="7315603"/>
          </a:xfrm>
          <a:custGeom>
            <a:avLst/>
            <a:gdLst/>
            <a:ahLst/>
            <a:cxnLst/>
            <a:rect r="r" b="b" t="t" l="l"/>
            <a:pathLst>
              <a:path h="7315603" w="9754137">
                <a:moveTo>
                  <a:pt x="0" y="0"/>
                </a:moveTo>
                <a:lnTo>
                  <a:pt x="9754137" y="0"/>
                </a:lnTo>
                <a:lnTo>
                  <a:pt x="9754137" y="7315603"/>
                </a:lnTo>
                <a:lnTo>
                  <a:pt x="0" y="7315603"/>
                </a:lnTo>
                <a:lnTo>
                  <a:pt x="0" y="0"/>
                </a:lnTo>
                <a:close/>
              </a:path>
            </a:pathLst>
          </a:custGeom>
          <a:blipFill>
            <a:blip r:embed="rId2"/>
            <a:stretch>
              <a:fillRect l="0" t="0" r="0" b="0"/>
            </a:stretch>
          </a:blipFill>
        </p:spPr>
      </p:sp>
      <p:sp>
        <p:nvSpPr>
          <p:cNvPr name="TextBox 6" id="6"/>
          <p:cNvSpPr txBox="true"/>
          <p:nvPr/>
        </p:nvSpPr>
        <p:spPr>
          <a:xfrm rot="0">
            <a:off x="193140" y="228139"/>
            <a:ext cx="13874391"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MODEL ARCHITECTURE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718088" y="5718327"/>
            <a:ext cx="7620000" cy="3910853"/>
          </a:xfrm>
          <a:custGeom>
            <a:avLst/>
            <a:gdLst/>
            <a:ahLst/>
            <a:cxnLst/>
            <a:rect r="r" b="b" t="t" l="l"/>
            <a:pathLst>
              <a:path h="3910853" w="7620000">
                <a:moveTo>
                  <a:pt x="0" y="0"/>
                </a:moveTo>
                <a:lnTo>
                  <a:pt x="7620000" y="0"/>
                </a:lnTo>
                <a:lnTo>
                  <a:pt x="7620000" y="3910853"/>
                </a:lnTo>
                <a:lnTo>
                  <a:pt x="0" y="3910853"/>
                </a:lnTo>
                <a:lnTo>
                  <a:pt x="0" y="0"/>
                </a:lnTo>
                <a:close/>
              </a:path>
            </a:pathLst>
          </a:custGeom>
          <a:blipFill>
            <a:blip r:embed="rId2"/>
            <a:stretch>
              <a:fillRect l="-2237" t="0" r="-2237" b="0"/>
            </a:stretch>
          </a:blipFill>
        </p:spPr>
      </p:sp>
      <p:sp>
        <p:nvSpPr>
          <p:cNvPr name="Freeform 9" id="9"/>
          <p:cNvSpPr/>
          <p:nvPr/>
        </p:nvSpPr>
        <p:spPr>
          <a:xfrm flipH="false" flipV="false" rot="0">
            <a:off x="10277813" y="1626018"/>
            <a:ext cx="7620000" cy="3933078"/>
          </a:xfrm>
          <a:custGeom>
            <a:avLst/>
            <a:gdLst/>
            <a:ahLst/>
            <a:cxnLst/>
            <a:rect r="r" b="b" t="t" l="l"/>
            <a:pathLst>
              <a:path h="3933078" w="7620000">
                <a:moveTo>
                  <a:pt x="0" y="0"/>
                </a:moveTo>
                <a:lnTo>
                  <a:pt x="7620000" y="0"/>
                </a:lnTo>
                <a:lnTo>
                  <a:pt x="7620000" y="3933078"/>
                </a:lnTo>
                <a:lnTo>
                  <a:pt x="0" y="3933078"/>
                </a:lnTo>
                <a:lnTo>
                  <a:pt x="0" y="0"/>
                </a:lnTo>
                <a:close/>
              </a:path>
            </a:pathLst>
          </a:custGeom>
          <a:blipFill>
            <a:blip r:embed="rId3"/>
            <a:stretch>
              <a:fillRect l="-2667" t="-253" r="-2667" b="0"/>
            </a:stretch>
          </a:blipFill>
        </p:spPr>
      </p:sp>
      <p:sp>
        <p:nvSpPr>
          <p:cNvPr name="Freeform 10" id="10"/>
          <p:cNvSpPr/>
          <p:nvPr/>
        </p:nvSpPr>
        <p:spPr>
          <a:xfrm flipH="false" flipV="false" rot="0">
            <a:off x="718088" y="1749096"/>
            <a:ext cx="7620000" cy="3810000"/>
          </a:xfrm>
          <a:custGeom>
            <a:avLst/>
            <a:gdLst/>
            <a:ahLst/>
            <a:cxnLst/>
            <a:rect r="r" b="b" t="t" l="l"/>
            <a:pathLst>
              <a:path h="3810000" w="7620000">
                <a:moveTo>
                  <a:pt x="0" y="0"/>
                </a:moveTo>
                <a:lnTo>
                  <a:pt x="7620000" y="0"/>
                </a:lnTo>
                <a:lnTo>
                  <a:pt x="7620000" y="3810000"/>
                </a:lnTo>
                <a:lnTo>
                  <a:pt x="0" y="3810000"/>
                </a:lnTo>
                <a:lnTo>
                  <a:pt x="0" y="0"/>
                </a:lnTo>
                <a:close/>
              </a:path>
            </a:pathLst>
          </a:custGeom>
          <a:blipFill>
            <a:blip r:embed="rId4"/>
            <a:stretch>
              <a:fillRect l="-1167" t="-544" r="-1167" b="0"/>
            </a:stretch>
          </a:blipFill>
        </p:spPr>
      </p:sp>
      <p:sp>
        <p:nvSpPr>
          <p:cNvPr name="Freeform 11" id="11"/>
          <p:cNvSpPr/>
          <p:nvPr/>
        </p:nvSpPr>
        <p:spPr>
          <a:xfrm flipH="false" flipV="false" rot="0">
            <a:off x="9571748" y="5143500"/>
            <a:ext cx="8254711" cy="4485680"/>
          </a:xfrm>
          <a:custGeom>
            <a:avLst/>
            <a:gdLst/>
            <a:ahLst/>
            <a:cxnLst/>
            <a:rect r="r" b="b" t="t" l="l"/>
            <a:pathLst>
              <a:path h="4485680" w="8254711">
                <a:moveTo>
                  <a:pt x="0" y="0"/>
                </a:moveTo>
                <a:lnTo>
                  <a:pt x="8254712" y="0"/>
                </a:lnTo>
                <a:lnTo>
                  <a:pt x="8254712" y="4485680"/>
                </a:lnTo>
                <a:lnTo>
                  <a:pt x="0" y="4485680"/>
                </a:lnTo>
                <a:lnTo>
                  <a:pt x="0" y="0"/>
                </a:lnTo>
                <a:close/>
              </a:path>
            </a:pathLst>
          </a:custGeom>
          <a:blipFill>
            <a:blip r:embed="rId5"/>
            <a:stretch>
              <a:fillRect l="-8470" t="0" r="-2146" b="0"/>
            </a:stretch>
          </a:blipFill>
        </p:spPr>
      </p:sp>
      <p:sp>
        <p:nvSpPr>
          <p:cNvPr name="TextBox 12" id="12"/>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ML MODELS COMPARISON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8276819" y="1414922"/>
            <a:ext cx="9560067" cy="8269458"/>
          </a:xfrm>
          <a:custGeom>
            <a:avLst/>
            <a:gdLst/>
            <a:ahLst/>
            <a:cxnLst/>
            <a:rect r="r" b="b" t="t" l="l"/>
            <a:pathLst>
              <a:path h="8269458" w="9560067">
                <a:moveTo>
                  <a:pt x="0" y="0"/>
                </a:moveTo>
                <a:lnTo>
                  <a:pt x="9560067" y="0"/>
                </a:lnTo>
                <a:lnTo>
                  <a:pt x="9560067" y="8269458"/>
                </a:lnTo>
                <a:lnTo>
                  <a:pt x="0" y="8269458"/>
                </a:lnTo>
                <a:lnTo>
                  <a:pt x="0" y="0"/>
                </a:lnTo>
                <a:close/>
              </a:path>
            </a:pathLst>
          </a:custGeom>
          <a:blipFill>
            <a:blip r:embed="rId2"/>
            <a:stretch>
              <a:fillRect l="0" t="0" r="0" b="0"/>
            </a:stretch>
          </a:blipFill>
        </p:spPr>
      </p:sp>
      <p:sp>
        <p:nvSpPr>
          <p:cNvPr name="Freeform 9" id="9"/>
          <p:cNvSpPr/>
          <p:nvPr/>
        </p:nvSpPr>
        <p:spPr>
          <a:xfrm flipH="false" flipV="false" rot="0">
            <a:off x="1249651" y="3209178"/>
            <a:ext cx="5011508" cy="5011508"/>
          </a:xfrm>
          <a:custGeom>
            <a:avLst/>
            <a:gdLst/>
            <a:ahLst/>
            <a:cxnLst/>
            <a:rect r="r" b="b" t="t" l="l"/>
            <a:pathLst>
              <a:path h="5011508" w="5011508">
                <a:moveTo>
                  <a:pt x="0" y="0"/>
                </a:moveTo>
                <a:lnTo>
                  <a:pt x="5011507" y="0"/>
                </a:lnTo>
                <a:lnTo>
                  <a:pt x="5011507" y="5011507"/>
                </a:lnTo>
                <a:lnTo>
                  <a:pt x="0" y="50115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38100" cap="rnd">
            <a:solidFill>
              <a:srgbClr val="545454"/>
            </a:solidFill>
            <a:prstDash val="solid"/>
            <a:round/>
          </a:ln>
        </p:spPr>
      </p:sp>
      <p:sp>
        <p:nvSpPr>
          <p:cNvPr name="TextBox 10" id="10"/>
          <p:cNvSpPr txBox="true"/>
          <p:nvPr/>
        </p:nvSpPr>
        <p:spPr>
          <a:xfrm rot="0">
            <a:off x="1249651"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RESULTS</a:t>
            </a:r>
          </a:p>
        </p:txBody>
      </p:sp>
      <p:sp>
        <p:nvSpPr>
          <p:cNvPr name="TextBox 11" id="11"/>
          <p:cNvSpPr txBox="true"/>
          <p:nvPr/>
        </p:nvSpPr>
        <p:spPr>
          <a:xfrm rot="0">
            <a:off x="1407135" y="3807990"/>
            <a:ext cx="4355187" cy="3407123"/>
          </a:xfrm>
          <a:prstGeom prst="rect">
            <a:avLst/>
          </a:prstGeom>
        </p:spPr>
        <p:txBody>
          <a:bodyPr anchor="t" rtlCol="false" tIns="0" lIns="0" bIns="0" rIns="0">
            <a:spAutoFit/>
          </a:bodyPr>
          <a:lstStyle/>
          <a:p>
            <a:pPr algn="l">
              <a:lnSpc>
                <a:spcPts val="5405"/>
              </a:lnSpc>
              <a:spcBef>
                <a:spcPct val="0"/>
              </a:spcBef>
            </a:pPr>
            <a:r>
              <a:rPr lang="en-US" sz="3861" spc="386">
                <a:solidFill>
                  <a:srgbClr val="000000"/>
                </a:solidFill>
                <a:latin typeface="Lato"/>
                <a:ea typeface="Lato"/>
                <a:cs typeface="Lato"/>
                <a:sym typeface="Lato"/>
              </a:rPr>
              <a:t> Acc</a:t>
            </a:r>
            <a:r>
              <a:rPr lang="en-US" sz="3861" spc="386">
                <a:solidFill>
                  <a:srgbClr val="000000"/>
                </a:solidFill>
                <a:latin typeface="Lato"/>
                <a:ea typeface="Lato"/>
                <a:cs typeface="Lato"/>
                <a:sym typeface="Lato"/>
              </a:rPr>
              <a:t>uracy:98.76</a:t>
            </a:r>
          </a:p>
          <a:p>
            <a:pPr algn="l">
              <a:lnSpc>
                <a:spcPts val="5405"/>
              </a:lnSpc>
              <a:spcBef>
                <a:spcPct val="0"/>
              </a:spcBef>
            </a:pPr>
          </a:p>
          <a:p>
            <a:pPr algn="l">
              <a:lnSpc>
                <a:spcPts val="5405"/>
              </a:lnSpc>
              <a:spcBef>
                <a:spcPct val="0"/>
              </a:spcBef>
            </a:pPr>
            <a:r>
              <a:rPr lang="en-US" sz="3861" spc="386">
                <a:solidFill>
                  <a:srgbClr val="000000"/>
                </a:solidFill>
                <a:latin typeface="Lato"/>
                <a:ea typeface="Lato"/>
                <a:cs typeface="Lato"/>
                <a:sym typeface="Lato"/>
              </a:rPr>
              <a:t> F1-Score: 98.76</a:t>
            </a:r>
          </a:p>
          <a:p>
            <a:pPr algn="l">
              <a:lnSpc>
                <a:spcPts val="5405"/>
              </a:lnSpc>
              <a:spcBef>
                <a:spcPct val="0"/>
              </a:spcBef>
            </a:pPr>
          </a:p>
          <a:p>
            <a:pPr algn="l">
              <a:lnSpc>
                <a:spcPts val="5405"/>
              </a:lnSpc>
              <a:spcBef>
                <a:spcPct val="0"/>
              </a:spcBef>
            </a:pPr>
            <a:r>
              <a:rPr lang="en-US" sz="3861" spc="386">
                <a:solidFill>
                  <a:srgbClr val="000000"/>
                </a:solidFill>
                <a:latin typeface="Lato"/>
                <a:ea typeface="Lato"/>
                <a:cs typeface="Lato"/>
                <a:sym typeface="Lato"/>
              </a:rPr>
              <a:t>Recall: 98.76</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842333" y="3180623"/>
            <a:ext cx="16789702" cy="4134464"/>
          </a:xfrm>
          <a:custGeom>
            <a:avLst/>
            <a:gdLst/>
            <a:ahLst/>
            <a:cxnLst/>
            <a:rect r="r" b="b" t="t" l="l"/>
            <a:pathLst>
              <a:path h="4134464" w="16789702">
                <a:moveTo>
                  <a:pt x="0" y="0"/>
                </a:moveTo>
                <a:lnTo>
                  <a:pt x="16789701" y="0"/>
                </a:lnTo>
                <a:lnTo>
                  <a:pt x="16789701" y="4134464"/>
                </a:lnTo>
                <a:lnTo>
                  <a:pt x="0" y="4134464"/>
                </a:lnTo>
                <a:lnTo>
                  <a:pt x="0" y="0"/>
                </a:lnTo>
                <a:close/>
              </a:path>
            </a:pathLst>
          </a:custGeom>
          <a:blipFill>
            <a:blip r:embed="rId2"/>
            <a:stretch>
              <a:fillRect l="0" t="0" r="0" b="0"/>
            </a:stretch>
          </a:blipFill>
        </p:spPr>
      </p:sp>
      <p:sp>
        <p:nvSpPr>
          <p:cNvPr name="TextBox 9" id="9"/>
          <p:cNvSpPr txBox="true"/>
          <p:nvPr/>
        </p:nvSpPr>
        <p:spPr>
          <a:xfrm rot="0">
            <a:off x="1207959" y="429233"/>
            <a:ext cx="15872082" cy="21431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COMPARATIVE ANALYSIS OF BEST MODELS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3595593" y="1237410"/>
            <a:ext cx="11096813" cy="7379381"/>
          </a:xfrm>
          <a:custGeom>
            <a:avLst/>
            <a:gdLst/>
            <a:ahLst/>
            <a:cxnLst/>
            <a:rect r="r" b="b" t="t" l="l"/>
            <a:pathLst>
              <a:path h="7379381" w="11096813">
                <a:moveTo>
                  <a:pt x="0" y="0"/>
                </a:moveTo>
                <a:lnTo>
                  <a:pt x="11096814" y="0"/>
                </a:lnTo>
                <a:lnTo>
                  <a:pt x="11096814" y="7379381"/>
                </a:lnTo>
                <a:lnTo>
                  <a:pt x="0" y="7379381"/>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FEATURE IMPORTANCE</a:t>
            </a:r>
          </a:p>
        </p:txBody>
      </p:sp>
      <p:sp>
        <p:nvSpPr>
          <p:cNvPr name="TextBox 10" id="10"/>
          <p:cNvSpPr txBox="true"/>
          <p:nvPr/>
        </p:nvSpPr>
        <p:spPr>
          <a:xfrm rot="0">
            <a:off x="3372267" y="8852535"/>
            <a:ext cx="11543466" cy="405765"/>
          </a:xfrm>
          <a:prstGeom prst="rect">
            <a:avLst/>
          </a:prstGeom>
        </p:spPr>
        <p:txBody>
          <a:bodyPr anchor="t" rtlCol="false" tIns="0" lIns="0" bIns="0" rIns="0">
            <a:spAutoFit/>
          </a:bodyPr>
          <a:lstStyle/>
          <a:p>
            <a:pPr algn="ctr">
              <a:lnSpc>
                <a:spcPts val="3359"/>
              </a:lnSpc>
              <a:spcBef>
                <a:spcPct val="0"/>
              </a:spcBef>
            </a:pPr>
            <a:r>
              <a:rPr lang="en-US" sz="2399" spc="239">
                <a:solidFill>
                  <a:srgbClr val="000000"/>
                </a:solidFill>
                <a:latin typeface="Lato"/>
                <a:ea typeface="Lato"/>
                <a:cs typeface="Lato"/>
                <a:sym typeface="Lato"/>
              </a:rPr>
              <a:t>As we can see Spectral , MEL and MFCC features contiribute the most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61594" y="2524125"/>
            <a:ext cx="8810376" cy="5238750"/>
          </a:xfrm>
          <a:custGeom>
            <a:avLst/>
            <a:gdLst/>
            <a:ahLst/>
            <a:cxnLst/>
            <a:rect r="r" b="b" t="t" l="l"/>
            <a:pathLst>
              <a:path h="5238750" w="8810376">
                <a:moveTo>
                  <a:pt x="0" y="0"/>
                </a:moveTo>
                <a:lnTo>
                  <a:pt x="8810376" y="0"/>
                </a:lnTo>
                <a:lnTo>
                  <a:pt x="8810376" y="5238750"/>
                </a:lnTo>
                <a:lnTo>
                  <a:pt x="0" y="5238750"/>
                </a:lnTo>
                <a:lnTo>
                  <a:pt x="0" y="0"/>
                </a:lnTo>
                <a:close/>
              </a:path>
            </a:pathLst>
          </a:custGeom>
          <a:blipFill>
            <a:blip r:embed="rId2"/>
            <a:stretch>
              <a:fillRect l="-6100" t="-5234" r="-156" b="0"/>
            </a:stretch>
          </a:blipFill>
        </p:spPr>
      </p:sp>
      <p:sp>
        <p:nvSpPr>
          <p:cNvPr name="Freeform 9" id="9"/>
          <p:cNvSpPr/>
          <p:nvPr/>
        </p:nvSpPr>
        <p:spPr>
          <a:xfrm flipH="false" flipV="false" rot="0">
            <a:off x="8971970" y="2524125"/>
            <a:ext cx="8810625" cy="5238750"/>
          </a:xfrm>
          <a:custGeom>
            <a:avLst/>
            <a:gdLst/>
            <a:ahLst/>
            <a:cxnLst/>
            <a:rect r="r" b="b" t="t" l="l"/>
            <a:pathLst>
              <a:path h="5238750" w="8810625">
                <a:moveTo>
                  <a:pt x="0" y="0"/>
                </a:moveTo>
                <a:lnTo>
                  <a:pt x="8810625" y="0"/>
                </a:lnTo>
                <a:lnTo>
                  <a:pt x="8810625" y="5238750"/>
                </a:lnTo>
                <a:lnTo>
                  <a:pt x="0" y="5238750"/>
                </a:lnTo>
                <a:lnTo>
                  <a:pt x="0" y="0"/>
                </a:lnTo>
                <a:close/>
              </a:path>
            </a:pathLst>
          </a:custGeom>
          <a:blipFill>
            <a:blip r:embed="rId3"/>
            <a:stretch>
              <a:fillRect l="-3271" t="-1140" r="0" b="-1140"/>
            </a:stretch>
          </a:blipFill>
        </p:spPr>
      </p:sp>
      <p:sp>
        <p:nvSpPr>
          <p:cNvPr name="TextBox 10" id="10"/>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LIME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0" y="3034158"/>
            <a:ext cx="8763000" cy="4576686"/>
          </a:xfrm>
          <a:custGeom>
            <a:avLst/>
            <a:gdLst/>
            <a:ahLst/>
            <a:cxnLst/>
            <a:rect r="r" b="b" t="t" l="l"/>
            <a:pathLst>
              <a:path h="4576686" w="8763000">
                <a:moveTo>
                  <a:pt x="0" y="0"/>
                </a:moveTo>
                <a:lnTo>
                  <a:pt x="8763000" y="0"/>
                </a:lnTo>
                <a:lnTo>
                  <a:pt x="8763000" y="4576685"/>
                </a:lnTo>
                <a:lnTo>
                  <a:pt x="0" y="4576685"/>
                </a:lnTo>
                <a:lnTo>
                  <a:pt x="0" y="0"/>
                </a:lnTo>
                <a:close/>
              </a:path>
            </a:pathLst>
          </a:custGeom>
          <a:blipFill>
            <a:blip r:embed="rId2"/>
            <a:stretch>
              <a:fillRect l="-33" t="-1377" r="0" b="-11453"/>
            </a:stretch>
          </a:blipFill>
        </p:spPr>
      </p:sp>
      <p:sp>
        <p:nvSpPr>
          <p:cNvPr name="Freeform 9" id="9"/>
          <p:cNvSpPr/>
          <p:nvPr/>
        </p:nvSpPr>
        <p:spPr>
          <a:xfrm flipH="false" flipV="false" rot="0">
            <a:off x="9144000" y="2840948"/>
            <a:ext cx="8898448" cy="5344137"/>
          </a:xfrm>
          <a:custGeom>
            <a:avLst/>
            <a:gdLst/>
            <a:ahLst/>
            <a:cxnLst/>
            <a:rect r="r" b="b" t="t" l="l"/>
            <a:pathLst>
              <a:path h="5344137" w="8898448">
                <a:moveTo>
                  <a:pt x="0" y="0"/>
                </a:moveTo>
                <a:lnTo>
                  <a:pt x="8898448" y="0"/>
                </a:lnTo>
                <a:lnTo>
                  <a:pt x="8898448" y="5344137"/>
                </a:lnTo>
                <a:lnTo>
                  <a:pt x="0" y="5344137"/>
                </a:lnTo>
                <a:lnTo>
                  <a:pt x="0" y="0"/>
                </a:lnTo>
                <a:close/>
              </a:path>
            </a:pathLst>
          </a:custGeom>
          <a:blipFill>
            <a:blip r:embed="rId3"/>
            <a:stretch>
              <a:fillRect l="-1434" t="0" r="-446" b="0"/>
            </a:stretch>
          </a:blipFill>
        </p:spPr>
      </p:sp>
      <p:sp>
        <p:nvSpPr>
          <p:cNvPr name="TextBox 10" id="10"/>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LIME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3525536" y="1500452"/>
            <a:ext cx="11236928" cy="6623993"/>
          </a:xfrm>
          <a:custGeom>
            <a:avLst/>
            <a:gdLst/>
            <a:ahLst/>
            <a:cxnLst/>
            <a:rect r="r" b="b" t="t" l="l"/>
            <a:pathLst>
              <a:path h="6623993" w="11236928">
                <a:moveTo>
                  <a:pt x="0" y="0"/>
                </a:moveTo>
                <a:lnTo>
                  <a:pt x="11236928" y="0"/>
                </a:lnTo>
                <a:lnTo>
                  <a:pt x="11236928" y="6623993"/>
                </a:lnTo>
                <a:lnTo>
                  <a:pt x="0" y="6623993"/>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LIME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4134081" y="1824187"/>
            <a:ext cx="10875334" cy="7558357"/>
          </a:xfrm>
          <a:custGeom>
            <a:avLst/>
            <a:gdLst/>
            <a:ahLst/>
            <a:cxnLst/>
            <a:rect r="r" b="b" t="t" l="l"/>
            <a:pathLst>
              <a:path h="7558357" w="10875334">
                <a:moveTo>
                  <a:pt x="0" y="0"/>
                </a:moveTo>
                <a:lnTo>
                  <a:pt x="10875335" y="0"/>
                </a:lnTo>
                <a:lnTo>
                  <a:pt x="10875335" y="7558358"/>
                </a:lnTo>
                <a:lnTo>
                  <a:pt x="0" y="7558358"/>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TERMINAL OUTPUTS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4602209" y="1733973"/>
            <a:ext cx="9939079" cy="7181416"/>
          </a:xfrm>
          <a:custGeom>
            <a:avLst/>
            <a:gdLst/>
            <a:ahLst/>
            <a:cxnLst/>
            <a:rect r="r" b="b" t="t" l="l"/>
            <a:pathLst>
              <a:path h="7181416" w="9939079">
                <a:moveTo>
                  <a:pt x="0" y="0"/>
                </a:moveTo>
                <a:lnTo>
                  <a:pt x="9939079" y="0"/>
                </a:lnTo>
                <a:lnTo>
                  <a:pt x="9939079" y="7181415"/>
                </a:lnTo>
                <a:lnTo>
                  <a:pt x="0" y="7181415"/>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TABNET OUTPUTS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2039692" y="1028700"/>
            <a:ext cx="14590250" cy="6784466"/>
          </a:xfrm>
          <a:custGeom>
            <a:avLst/>
            <a:gdLst/>
            <a:ahLst/>
            <a:cxnLst/>
            <a:rect r="r" b="b" t="t" l="l"/>
            <a:pathLst>
              <a:path h="6784466" w="14590250">
                <a:moveTo>
                  <a:pt x="0" y="0"/>
                </a:moveTo>
                <a:lnTo>
                  <a:pt x="14590250" y="0"/>
                </a:lnTo>
                <a:lnTo>
                  <a:pt x="14590250" y="6784466"/>
                </a:lnTo>
                <a:lnTo>
                  <a:pt x="0" y="6784466"/>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AGENTIC SYSTEM</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18088" y="780210"/>
            <a:ext cx="248490" cy="24849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2756000" y="1237410"/>
            <a:ext cx="12775999" cy="6403970"/>
          </a:xfrm>
          <a:custGeom>
            <a:avLst/>
            <a:gdLst/>
            <a:ahLst/>
            <a:cxnLst/>
            <a:rect r="r" b="b" t="t" l="l"/>
            <a:pathLst>
              <a:path h="6403970" w="12775999">
                <a:moveTo>
                  <a:pt x="0" y="0"/>
                </a:moveTo>
                <a:lnTo>
                  <a:pt x="12776000" y="0"/>
                </a:lnTo>
                <a:lnTo>
                  <a:pt x="12776000" y="6403970"/>
                </a:lnTo>
                <a:lnTo>
                  <a:pt x="0" y="6403970"/>
                </a:lnTo>
                <a:lnTo>
                  <a:pt x="0" y="0"/>
                </a:lnTo>
                <a:close/>
              </a:path>
            </a:pathLst>
          </a:custGeom>
          <a:blipFill>
            <a:blip r:embed="rId2"/>
            <a:stretch>
              <a:fillRect l="0" t="0" r="0" b="0"/>
            </a:stretch>
          </a:blipFill>
        </p:spPr>
      </p:sp>
      <p:sp>
        <p:nvSpPr>
          <p:cNvPr name="TextBox 9" id="9"/>
          <p:cNvSpPr txBox="true"/>
          <p:nvPr/>
        </p:nvSpPr>
        <p:spPr>
          <a:xfrm rot="0">
            <a:off x="1635707" y="161085"/>
            <a:ext cx="15872082"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AGENTIC SYSTEM</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831776" y="866775"/>
            <a:ext cx="8445984"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REFERENCES </a:t>
            </a:r>
          </a:p>
        </p:txBody>
      </p:sp>
      <p:sp>
        <p:nvSpPr>
          <p:cNvPr name="TextBox 6" id="6"/>
          <p:cNvSpPr txBox="true"/>
          <p:nvPr/>
        </p:nvSpPr>
        <p:spPr>
          <a:xfrm rot="0">
            <a:off x="187041" y="2985728"/>
            <a:ext cx="17913918" cy="3610610"/>
          </a:xfrm>
          <a:prstGeom prst="rect">
            <a:avLst/>
          </a:prstGeom>
        </p:spPr>
        <p:txBody>
          <a:bodyPr anchor="t" rtlCol="false" tIns="0" lIns="0" bIns="0" rIns="0">
            <a:spAutoFit/>
          </a:bodyPr>
          <a:lstStyle/>
          <a:p>
            <a:pPr algn="l" marL="885192" indent="-442596" lvl="1">
              <a:lnSpc>
                <a:spcPts val="5740"/>
              </a:lnSpc>
              <a:buAutoNum type="arabicPeriod" startAt="1"/>
            </a:pPr>
            <a:r>
              <a:rPr lang="en-US" sz="4100" u="sng">
                <a:solidFill>
                  <a:srgbClr val="0000FF"/>
                </a:solidFill>
                <a:latin typeface="Arimo"/>
                <a:ea typeface="Arimo"/>
                <a:cs typeface="Arimo"/>
                <a:sym typeface="Arimo"/>
                <a:hlinkClick r:id="rId2" tooltip="https://pmc.ncbi.nlm.nih.gov/articles/PMC5323467/"/>
              </a:rPr>
              <a:t>https://pmc.ncbi.nlm.nih.gov/articles/PMC5323467/</a:t>
            </a:r>
          </a:p>
          <a:p>
            <a:pPr algn="l" marL="885192" indent="-442596" lvl="1">
              <a:lnSpc>
                <a:spcPts val="5740"/>
              </a:lnSpc>
              <a:buAutoNum type="arabicPeriod" startAt="1"/>
            </a:pPr>
            <a:r>
              <a:rPr lang="en-US" sz="4100" u="sng">
                <a:solidFill>
                  <a:srgbClr val="0000FF"/>
                </a:solidFill>
                <a:latin typeface="Arimo"/>
                <a:ea typeface="Arimo"/>
                <a:cs typeface="Arimo"/>
                <a:sym typeface="Arimo"/>
              </a:rPr>
              <a:t>https://www.clinicbarcelona.org/en/news/a-study-identifies-the-cause-of-infant-crying-in-order-to-improve-the-infant-parent-relationship</a:t>
            </a:r>
          </a:p>
          <a:p>
            <a:pPr algn="l" marL="885192" indent="-442596" lvl="1">
              <a:lnSpc>
                <a:spcPts val="5740"/>
              </a:lnSpc>
              <a:buAutoNum type="arabicPeriod" startAt="1"/>
            </a:pPr>
            <a:r>
              <a:rPr lang="en-US" sz="4100" u="sng">
                <a:solidFill>
                  <a:srgbClr val="0000FF"/>
                </a:solidFill>
                <a:latin typeface="Arimo"/>
                <a:ea typeface="Arimo"/>
                <a:cs typeface="Arimo"/>
                <a:sym typeface="Arimo"/>
              </a:rPr>
              <a:t>https://pmc.ncbi.nlm.nih.gov/articles/PMC10100257/</a:t>
            </a:r>
          </a:p>
          <a:p>
            <a:pPr algn="l">
              <a:lnSpc>
                <a:spcPts val="5740"/>
              </a:lnSpc>
            </a:pP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11924" y="-38138"/>
            <a:ext cx="8445984"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REFERENCES </a:t>
            </a:r>
          </a:p>
        </p:txBody>
      </p:sp>
      <p:sp>
        <p:nvSpPr>
          <p:cNvPr name="TextBox 6" id="6"/>
          <p:cNvSpPr txBox="true"/>
          <p:nvPr/>
        </p:nvSpPr>
        <p:spPr>
          <a:xfrm rot="0">
            <a:off x="427631" y="1136524"/>
            <a:ext cx="15681493" cy="8368665"/>
          </a:xfrm>
          <a:prstGeom prst="rect">
            <a:avLst/>
          </a:prstGeom>
        </p:spPr>
        <p:txBody>
          <a:bodyPr anchor="t" rtlCol="false" tIns="0" lIns="0" bIns="0" rIns="0">
            <a:spAutoFit/>
          </a:bodyPr>
          <a:lstStyle/>
          <a:p>
            <a:pPr algn="l">
              <a:lnSpc>
                <a:spcPts val="3359"/>
              </a:lnSpc>
              <a:spcBef>
                <a:spcPct val="0"/>
              </a:spcBef>
            </a:pPr>
            <a:r>
              <a:rPr lang="en-US" sz="2399" spc="239">
                <a:solidFill>
                  <a:srgbClr val="000000"/>
                </a:solidFill>
                <a:latin typeface="Lato"/>
                <a:ea typeface="Lato"/>
                <a:cs typeface="Lato"/>
                <a:sym typeface="Lato"/>
              </a:rPr>
              <a:t>[1] Pal, P., Iyer, A.N. and Yantorno, R.E., 2006, May. Emotion detection from infant facial expressions and cries. In 2006 IEEE International Conference on Acoustics Speech and Signal Processing Proceedings (Vol. 2, pp. II-II). IEEE. </a:t>
            </a:r>
          </a:p>
          <a:p>
            <a:pPr algn="l">
              <a:lnSpc>
                <a:spcPts val="3359"/>
              </a:lnSpc>
              <a:spcBef>
                <a:spcPct val="0"/>
              </a:spcBef>
            </a:pPr>
            <a:r>
              <a:rPr lang="en-US" sz="2399" spc="239">
                <a:solidFill>
                  <a:srgbClr val="000000"/>
                </a:solidFill>
                <a:latin typeface="Lato"/>
                <a:ea typeface="Lato"/>
                <a:cs typeface="Lato"/>
                <a:sym typeface="Lato"/>
              </a:rPr>
              <a:t>[2] Yamamoto, S., Yoshitomi, Y., Tabuse, M., Kushida, K. and Asada, T., 2013. Recognition of a baby’s emotional cry towards robotics baby caregiver. International Journal of Advanced Robotic Systems, 10(2), p.86. </a:t>
            </a:r>
          </a:p>
          <a:p>
            <a:pPr algn="l">
              <a:lnSpc>
                <a:spcPts val="3359"/>
              </a:lnSpc>
              <a:spcBef>
                <a:spcPct val="0"/>
              </a:spcBef>
            </a:pPr>
            <a:r>
              <a:rPr lang="en-US" sz="2399" spc="239">
                <a:solidFill>
                  <a:srgbClr val="000000"/>
                </a:solidFill>
                <a:latin typeface="Lato"/>
                <a:ea typeface="Lato"/>
                <a:cs typeface="Lato"/>
                <a:sym typeface="Lato"/>
              </a:rPr>
              <a:t>[3] Honda, K., Kitahara, K., Matsunaga, S., Yamashita, M. and Shinohara, K., 2012, December. Emotion classification of infant cries with consideration for local and global features. In Proceedings of The 2012 Asia Pacific Signal and Information Processing Association Annual Summit and Conference (pp. 1-4). IEEE. </a:t>
            </a:r>
          </a:p>
          <a:p>
            <a:pPr algn="l">
              <a:lnSpc>
                <a:spcPts val="3359"/>
              </a:lnSpc>
              <a:spcBef>
                <a:spcPct val="0"/>
              </a:spcBef>
            </a:pPr>
            <a:r>
              <a:rPr lang="en-US" sz="2399" spc="239">
                <a:solidFill>
                  <a:srgbClr val="000000"/>
                </a:solidFill>
                <a:latin typeface="Lato"/>
                <a:ea typeface="Lato"/>
                <a:cs typeface="Lato"/>
                <a:sym typeface="Lato"/>
              </a:rPr>
              <a:t>[4] Noroozi, F., Akrami, N. and Anbarjafari, G., 2017, May. Speech-based emotion recognition and next reaction prediction. In 2017 25th Signal Processing and Communications Applications Conference (SIU) (pp. 1-4). IEEE.</a:t>
            </a:r>
          </a:p>
          <a:p>
            <a:pPr algn="l">
              <a:lnSpc>
                <a:spcPts val="3359"/>
              </a:lnSpc>
              <a:spcBef>
                <a:spcPct val="0"/>
              </a:spcBef>
            </a:pPr>
            <a:r>
              <a:rPr lang="en-US" sz="2399" spc="239">
                <a:solidFill>
                  <a:srgbClr val="000000"/>
                </a:solidFill>
                <a:latin typeface="Lato"/>
                <a:ea typeface="Lato"/>
                <a:cs typeface="Lato"/>
                <a:sym typeface="Lato"/>
              </a:rPr>
              <a:t> [5] Tarunika, K., Pradeeba, R.B. and Aruna, P., 2018, July. Applying machine learning techniques for speech emotion recognition. In 2018 9th International Conference on Computing, Communication and Networking Technologies (ICCCNT) (pp. 1-5). IEEE. </a:t>
            </a:r>
          </a:p>
          <a:p>
            <a:pPr algn="l">
              <a:lnSpc>
                <a:spcPts val="3359"/>
              </a:lnSpc>
              <a:spcBef>
                <a:spcPct val="0"/>
              </a:spcBef>
            </a:pPr>
            <a:r>
              <a:rPr lang="en-US" sz="2399" spc="239">
                <a:solidFill>
                  <a:srgbClr val="000000"/>
                </a:solidFill>
                <a:latin typeface="Lato"/>
                <a:ea typeface="Lato"/>
                <a:cs typeface="Lato"/>
                <a:sym typeface="Lato"/>
              </a:rPr>
              <a:t>[6] Cai, L., Jiang, C., Wang, Z., Zhao, L. and Zou, C., 2003, December. A method combining the global and time series structure features for emotion recognition in speech. In International Conference on Neural Networks and Signal Processing, 2003. Proceedings of the 2003 (Vol. 2, pp. 904- 907). IEEE. </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456224" y="789698"/>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11924" y="-38138"/>
            <a:ext cx="8445984" cy="10763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REFERENCES </a:t>
            </a:r>
          </a:p>
        </p:txBody>
      </p:sp>
      <p:sp>
        <p:nvSpPr>
          <p:cNvPr name="TextBox 6" id="6"/>
          <p:cNvSpPr txBox="true"/>
          <p:nvPr/>
        </p:nvSpPr>
        <p:spPr>
          <a:xfrm rot="0">
            <a:off x="371281" y="1354455"/>
            <a:ext cx="15681493" cy="7530465"/>
          </a:xfrm>
          <a:prstGeom prst="rect">
            <a:avLst/>
          </a:prstGeom>
        </p:spPr>
        <p:txBody>
          <a:bodyPr anchor="t" rtlCol="false" tIns="0" lIns="0" bIns="0" rIns="0">
            <a:spAutoFit/>
          </a:bodyPr>
          <a:lstStyle/>
          <a:p>
            <a:pPr algn="l">
              <a:lnSpc>
                <a:spcPts val="3359"/>
              </a:lnSpc>
            </a:pPr>
            <a:r>
              <a:rPr lang="en-US" sz="2399" spc="239">
                <a:solidFill>
                  <a:srgbClr val="000000"/>
                </a:solidFill>
                <a:latin typeface="Lato"/>
                <a:ea typeface="Lato"/>
                <a:cs typeface="Lato"/>
                <a:sym typeface="Lato"/>
              </a:rPr>
              <a:t>[7] Rajak, R. and Mall, R., 2019, October. Emotion recognition from audio, dimensional and discrete categorization using CNNs. In TENCON 2019-2019 IEEE Region 10 Conference (TENCON) (pp. 301-305). IEEE.</a:t>
            </a:r>
          </a:p>
          <a:p>
            <a:pPr algn="l">
              <a:lnSpc>
                <a:spcPts val="3359"/>
              </a:lnSpc>
            </a:pPr>
            <a:r>
              <a:rPr lang="en-US" sz="2399" spc="239">
                <a:solidFill>
                  <a:srgbClr val="000000"/>
                </a:solidFill>
                <a:latin typeface="Lato"/>
                <a:ea typeface="Lato"/>
                <a:cs typeface="Lato"/>
                <a:sym typeface="Lato"/>
              </a:rPr>
              <a:t>[8] Ashrafidoost, R., Setayeshi, S. and Sharifi, A., 2016, November. Recognizing Emotional State Changes Using Speech Processing. In 2016 European Modelling Symposium (EMS) (pp. 41-46). IEEE. </a:t>
            </a:r>
          </a:p>
          <a:p>
            <a:pPr algn="l">
              <a:lnSpc>
                <a:spcPts val="3359"/>
              </a:lnSpc>
            </a:pPr>
            <a:r>
              <a:rPr lang="en-US" sz="2399" spc="239">
                <a:solidFill>
                  <a:srgbClr val="000000"/>
                </a:solidFill>
                <a:latin typeface="Lato"/>
                <a:ea typeface="Lato"/>
                <a:cs typeface="Lato"/>
                <a:sym typeface="Lato"/>
              </a:rPr>
              <a:t>[9] Sharma, S. and Mittal, V.K., 2017, November. Infant cry analysis of cry signal segments towards identifying the crycause factors. In TENCON 2017-2017 IEEE Region 10 Conference (pp. 3105-3110). IEEE. </a:t>
            </a:r>
          </a:p>
          <a:p>
            <a:pPr algn="l">
              <a:lnSpc>
                <a:spcPts val="3359"/>
              </a:lnSpc>
            </a:pPr>
            <a:r>
              <a:rPr lang="en-US" sz="2399" spc="239">
                <a:solidFill>
                  <a:srgbClr val="000000"/>
                </a:solidFill>
                <a:latin typeface="Lato"/>
                <a:ea typeface="Lato"/>
                <a:cs typeface="Lato"/>
                <a:sym typeface="Lato"/>
              </a:rPr>
              <a:t>[10] Mittal, V.K., 2016, October. Discriminating features of infant cry acoustic signal for automated detection of cause of crying. In 2016 10th International Symposium on Chinese Spoken Language Processing (ISCSLP) (pp. 1-5). IEEE. </a:t>
            </a:r>
          </a:p>
          <a:p>
            <a:pPr algn="l">
              <a:lnSpc>
                <a:spcPts val="3359"/>
              </a:lnSpc>
            </a:pPr>
            <a:r>
              <a:rPr lang="en-US" sz="2399" spc="239">
                <a:solidFill>
                  <a:srgbClr val="000000"/>
                </a:solidFill>
                <a:latin typeface="Lato"/>
                <a:ea typeface="Lato"/>
                <a:cs typeface="Lato"/>
                <a:sym typeface="Lato"/>
              </a:rPr>
              <a:t>[11] Chang, C.Y., Hsiao, Y.C. and Chen, S.T., 2015, September. Application of incremental SVM learning for infant cries recognition. In 2015 18th International Conference on Network-Based Information Systems (pp. 607-610). IEEE. </a:t>
            </a:r>
          </a:p>
          <a:p>
            <a:pPr algn="l">
              <a:lnSpc>
                <a:spcPts val="3359"/>
              </a:lnSpc>
              <a:spcBef>
                <a:spcPct val="0"/>
              </a:spcBef>
            </a:pPr>
            <a:r>
              <a:rPr lang="en-US" sz="2399" spc="239">
                <a:solidFill>
                  <a:srgbClr val="000000"/>
                </a:solidFill>
                <a:latin typeface="Lato"/>
                <a:ea typeface="Lato"/>
                <a:cs typeface="Lato"/>
                <a:sym typeface="Lato"/>
              </a:rPr>
              <a:t>[12] Osmani, A., Hamidi, M. and Chibani, A., 2017, November. Machine learning approach for infant cry interpretation. In 2017 IEEE 29th International Conference on Tools with Artificial Intelligence (ICTAI) (pp. 182-186). IEEE.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958126" y="3970422"/>
            <a:ext cx="12371749" cy="2060405"/>
          </a:xfrm>
          <a:prstGeom prst="rect">
            <a:avLst/>
          </a:prstGeom>
        </p:spPr>
        <p:txBody>
          <a:bodyPr anchor="t" rtlCol="false" tIns="0" lIns="0" bIns="0" rIns="0">
            <a:spAutoFit/>
          </a:bodyPr>
          <a:lstStyle/>
          <a:p>
            <a:pPr algn="ctr" marL="0" indent="0" lvl="0">
              <a:lnSpc>
                <a:spcPts val="16238"/>
              </a:lnSpc>
            </a:pPr>
            <a:r>
              <a:rPr lang="en-US" b="true" sz="11598" spc="579">
                <a:solidFill>
                  <a:srgbClr val="000000"/>
                </a:solidFill>
                <a:latin typeface="Helios Extended Bold"/>
                <a:ea typeface="Helios Extended Bold"/>
                <a:cs typeface="Helios Extended Bold"/>
                <a:sym typeface="Helios Extended Bold"/>
              </a:rPr>
              <a:t>THANK YOU</a:t>
            </a:r>
          </a:p>
        </p:txBody>
      </p:sp>
      <p:grpSp>
        <p:nvGrpSpPr>
          <p:cNvPr name="Group 6" id="6"/>
          <p:cNvGrpSpPr/>
          <p:nvPr/>
        </p:nvGrpSpPr>
        <p:grpSpPr>
          <a:xfrm rot="0">
            <a:off x="1028700" y="9009810"/>
            <a:ext cx="248490" cy="24849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7010810" y="1028700"/>
            <a:ext cx="248490" cy="2484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8877077" y="2550163"/>
            <a:ext cx="533846" cy="589367"/>
          </a:xfrm>
          <a:custGeom>
            <a:avLst/>
            <a:gdLst/>
            <a:ahLst/>
            <a:cxnLst/>
            <a:rect r="r" b="b" t="t" l="l"/>
            <a:pathLst>
              <a:path h="589367" w="533846">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DAGdU_7xHiI</dc:identifier>
  <dcterms:modified xsi:type="dcterms:W3CDTF">2011-08-01T06:04:30Z</dcterms:modified>
  <cp:revision>1</cp:revision>
  <dc:title>SPEECH PROCESSING</dc:title>
</cp:coreProperties>
</file>